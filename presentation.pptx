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70" r:id="rId5"/>
    <p:sldId id="258" r:id="rId6"/>
    <p:sldId id="271" r:id="rId7"/>
    <p:sldId id="260" r:id="rId8"/>
    <p:sldId id="261" r:id="rId9"/>
    <p:sldId id="274" r:id="rId10"/>
    <p:sldId id="263" r:id="rId11"/>
    <p:sldId id="264" r:id="rId12"/>
    <p:sldId id="265" r:id="rId13"/>
    <p:sldId id="277" r:id="rId14"/>
    <p:sldId id="266" r:id="rId15"/>
    <p:sldId id="267" r:id="rId16"/>
    <p:sldId id="273" r:id="rId17"/>
    <p:sldId id="275" r:id="rId18"/>
    <p:sldId id="278" r:id="rId19"/>
    <p:sldId id="276" r:id="rId20"/>
    <p:sldId id="268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9669"/>
    <a:srgbClr val="1E1B4B"/>
    <a:srgbClr val="F5F3FF"/>
    <a:srgbClr val="DDCEFB"/>
    <a:srgbClr val="7C3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08DA58-FBDB-4656-861B-FA76CBCE89D2}" v="277" dt="2026-02-27T10:16:58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6F700-5703-465D-8D09-CC2ABD29907A}" type="datetimeFigureOut">
              <a:t>2026. 02. 27.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6F151-3A39-46FD-86BD-19670BCDF24E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1153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err="1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013D8-7611-3D13-DC4F-399DD767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AFB8A-9E5F-819F-ED7D-E7F30FE3E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42921-9644-329A-79C9-7C81024A2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488A4-A30A-9F68-D0C2-102878624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4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8D2FD-BDFA-072C-F9EC-59624B28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5B890-FE7F-1AE3-794C-4AF6FC66F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CF9F7-D64E-1F3D-1DF1-B4391416C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E6C8D-921F-B0E1-2331-B60EFF4F6B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4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4FB52-57E0-B923-1747-C93137EE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8464A-694E-F226-BE5F-D923184FC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3D20D-1621-719C-95DA-81AE50029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6FA1A-8BC5-30FB-48CE-2AC3BFF1B1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54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3433A-38C1-2CD6-B6C4-ED3AA5494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31BCE-8427-1F8F-A645-D8B7F632E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33978-9F79-ECFD-27DB-C0718F935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EEE5B-C70A-A483-B236-1CD9942A5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37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0E824-6A94-FEFF-BABA-E1BE8961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3BEDA-A948-36B9-3E05-20F14E23B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F425C-9E20-6686-360F-BE5A4CBE6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56E41-412A-FF0C-3368-BF9FB229E7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53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8C83-713B-1773-DFE3-3788FF578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0B4314-0A7D-5F32-E532-41EC7358F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0A141-16F1-36AA-8DD7-F4B328A2E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20A67-C699-68DB-F10E-76A397A72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385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39250-283A-A025-5962-BDAC3227B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97B97-F6F3-4269-76EF-01251BA2D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24030-DE89-BB10-B265-6D11B3DFB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8DFBF-A594-D81B-D83C-74EE75FED0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67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98954" y="2905382"/>
            <a:ext cx="3657600" cy="3657600"/>
          </a:xfrm>
          <a:prstGeom prst="ellipse">
            <a:avLst/>
          </a:prstGeom>
          <a:solidFill>
            <a:srgbClr val="059669">
              <a:alpha val="30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E9D5FF"/>
                </a:solidFill>
                <a:latin typeface="Trebuchet MS"/>
                <a:ea typeface="Calibri"/>
                <a:cs typeface="Calibri"/>
              </a:rPr>
              <a:t>📚</a:t>
            </a:r>
            <a:r>
              <a:rPr lang="en-US" sz="7200" b="1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SkillBook</a:t>
            </a:r>
            <a:endParaRPr lang="en-US" sz="7200" dirty="0" err="1">
              <a:latin typeface="Trebuchet MS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03099" y="2240896"/>
            <a:ext cx="4877830" cy="65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3698" y="3473443"/>
            <a:ext cx="3327879" cy="1158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>
                <a:solidFill>
                  <a:srgbClr val="C4B5FD"/>
                </a:solidFill>
                <a:ea typeface="Calibri"/>
                <a:cs typeface="Calibri"/>
              </a:rPr>
              <a:t>Buzási Regina</a:t>
            </a:r>
            <a:endParaRPr lang="en-US" i="1">
              <a:ea typeface="Calibri"/>
              <a:cs typeface="Calibri"/>
            </a:endParaRPr>
          </a:p>
          <a:p>
            <a:r>
              <a:rPr lang="en-US" i="1">
                <a:solidFill>
                  <a:srgbClr val="C4B5FD"/>
                </a:solidFill>
                <a:ea typeface="Calibri"/>
                <a:cs typeface="Calibri"/>
              </a:rPr>
              <a:t>Bagoly Donát</a:t>
            </a:r>
          </a:p>
          <a:p>
            <a:r>
              <a:rPr lang="en-US" i="1" err="1">
                <a:solidFill>
                  <a:srgbClr val="C4B5FD"/>
                </a:solidFill>
                <a:ea typeface="Calibri"/>
                <a:cs typeface="Calibri"/>
              </a:rPr>
              <a:t>Pettermann</a:t>
            </a:r>
            <a:r>
              <a:rPr lang="en-US" i="1">
                <a:solidFill>
                  <a:srgbClr val="C4B5FD"/>
                </a:solidFill>
                <a:ea typeface="Calibri"/>
                <a:cs typeface="Calibri"/>
              </a:rPr>
              <a:t> Shaun Pharrell</a:t>
            </a:r>
          </a:p>
        </p:txBody>
      </p:sp>
      <p:sp>
        <p:nvSpPr>
          <p:cNvPr id="22" name="Text 20"/>
          <p:cNvSpPr/>
          <p:nvPr/>
        </p:nvSpPr>
        <p:spPr>
          <a:xfrm>
            <a:off x="190500" y="4808220"/>
            <a:ext cx="9022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2026 | Team </a:t>
            </a:r>
            <a:r>
              <a:rPr lang="en-US" sz="1000" dirty="0" err="1">
                <a:solidFill>
                  <a:schemeClr val="bg1"/>
                </a:solidFill>
              </a:rPr>
              <a:t>SkillBook</a:t>
            </a:r>
            <a:r>
              <a:rPr lang="en-US" sz="1000" dirty="0">
                <a:solidFill>
                  <a:schemeClr val="bg1"/>
                </a:solidFill>
              </a:rPr>
              <a:t>                                                                                 </a:t>
            </a:r>
            <a:r>
              <a:rPr lang="en-US" sz="1000" dirty="0">
                <a:solidFill>
                  <a:schemeClr val="bg1"/>
                </a:solidFill>
                <a:ea typeface="+mn-lt"/>
                <a:cs typeface="+mn-lt"/>
              </a:rPr>
              <a:t>                     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  https://github.com/RadeonGamer06/skillbookgithub.github.io/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F84B2ED1-73A4-6641-13E5-0C3AFDCADAEE}"/>
              </a:ext>
            </a:extLst>
          </p:cNvPr>
          <p:cNvSpPr txBox="1"/>
          <p:nvPr/>
        </p:nvSpPr>
        <p:spPr>
          <a:xfrm>
            <a:off x="278027" y="3135527"/>
            <a:ext cx="142875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>
                <a:solidFill>
                  <a:srgbClr val="C4B5FD"/>
                </a:solidFill>
                <a:latin typeface="Calibri"/>
              </a:rPr>
              <a:t>   Made by: </a:t>
            </a:r>
            <a:endParaRPr lang="hu-HU"/>
          </a:p>
          <a:p>
            <a:pPr algn="ctr"/>
            <a:endParaRPr lang="hu-H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4B"/>
                </a:solidFill>
                <a:latin typeface="Trebuchet MS"/>
              </a:rPr>
              <a:t>Teamwork</a:t>
            </a:r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57200" y="789432"/>
            <a:ext cx="2263140" cy="472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472666" cy="84222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472666" cy="40266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1980" y="1104900"/>
            <a:ext cx="769620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F3FF"/>
                </a:solidFill>
              </a:rPr>
              <a:t>Frontend</a:t>
            </a:r>
            <a:endParaRPr lang="en-US" sz="1300">
              <a:solidFill>
                <a:srgbClr val="F5F3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01980" y="1615440"/>
            <a:ext cx="1623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err="1">
                <a:solidFill>
                  <a:srgbClr val="6B7280"/>
                </a:solidFill>
              </a:rPr>
              <a:t>Pettermann</a:t>
            </a:r>
            <a:r>
              <a:rPr lang="en-US" sz="1050" b="1">
                <a:solidFill>
                  <a:srgbClr val="6B7280"/>
                </a:solidFill>
              </a:rPr>
              <a:t> Shaun Pharrell</a:t>
            </a:r>
            <a:endParaRPr lang="en-US" sz="1050" b="1" err="1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BDBF001E-9EB0-E13B-E64C-4A5C46AC58AD}"/>
              </a:ext>
            </a:extLst>
          </p:cNvPr>
          <p:cNvSpPr/>
          <p:nvPr/>
        </p:nvSpPr>
        <p:spPr>
          <a:xfrm>
            <a:off x="464820" y="2354580"/>
            <a:ext cx="3472666" cy="84222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329147E0-07B9-DB7F-31CA-2D4C568A20FB}"/>
              </a:ext>
            </a:extLst>
          </p:cNvPr>
          <p:cNvSpPr/>
          <p:nvPr/>
        </p:nvSpPr>
        <p:spPr>
          <a:xfrm>
            <a:off x="464820" y="2354580"/>
            <a:ext cx="3472666" cy="40266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D588A16A-605C-E623-212A-6CCB1AE4C9CD}"/>
              </a:ext>
            </a:extLst>
          </p:cNvPr>
          <p:cNvSpPr/>
          <p:nvPr/>
        </p:nvSpPr>
        <p:spPr>
          <a:xfrm>
            <a:off x="609600" y="2354580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F5F3FF"/>
                </a:solidFill>
              </a:rPr>
              <a:t>Backend, Project manager</a:t>
            </a:r>
            <a:endParaRPr lang="en-US" sz="1300">
              <a:solidFill>
                <a:srgbClr val="F5F3FF"/>
              </a:solidFill>
            </a:endParaRP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ACE0F68A-AAF7-33D5-D6B0-D5DF5114753E}"/>
              </a:ext>
            </a:extLst>
          </p:cNvPr>
          <p:cNvSpPr/>
          <p:nvPr/>
        </p:nvSpPr>
        <p:spPr>
          <a:xfrm>
            <a:off x="609600" y="2872739"/>
            <a:ext cx="1623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6B7280"/>
                </a:solidFill>
                <a:ea typeface="Calibri"/>
                <a:cs typeface="Calibri"/>
              </a:rPr>
              <a:t>Bagoly Donát</a:t>
            </a:r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7B6965BA-7594-7190-2F54-9D66BDF5E5DF}"/>
              </a:ext>
            </a:extLst>
          </p:cNvPr>
          <p:cNvSpPr/>
          <p:nvPr/>
        </p:nvSpPr>
        <p:spPr>
          <a:xfrm>
            <a:off x="472440" y="3665220"/>
            <a:ext cx="3472666" cy="84222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1" name="Shape 5">
            <a:extLst>
              <a:ext uri="{FF2B5EF4-FFF2-40B4-BE49-F238E27FC236}">
                <a16:creationId xmlns:a16="http://schemas.microsoft.com/office/drawing/2014/main" id="{5A2A0C59-C8FC-62C3-9D16-018375BA8A94}"/>
              </a:ext>
            </a:extLst>
          </p:cNvPr>
          <p:cNvSpPr/>
          <p:nvPr/>
        </p:nvSpPr>
        <p:spPr>
          <a:xfrm>
            <a:off x="472440" y="3665220"/>
            <a:ext cx="3472666" cy="40266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FDBF65DB-619D-3D13-FC0D-D3A0134FB8A3}"/>
              </a:ext>
            </a:extLst>
          </p:cNvPr>
          <p:cNvSpPr/>
          <p:nvPr/>
        </p:nvSpPr>
        <p:spPr>
          <a:xfrm>
            <a:off x="617220" y="3672840"/>
            <a:ext cx="769620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F3FF"/>
                </a:solidFill>
                <a:ea typeface="Calibri"/>
                <a:cs typeface="Calibri"/>
              </a:rPr>
              <a:t>Database</a:t>
            </a:r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029A1110-DDAD-18AE-8A32-1CF4E2EB3659}"/>
              </a:ext>
            </a:extLst>
          </p:cNvPr>
          <p:cNvSpPr/>
          <p:nvPr/>
        </p:nvSpPr>
        <p:spPr>
          <a:xfrm>
            <a:off x="617220" y="4183379"/>
            <a:ext cx="1623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6B7280"/>
                </a:solidFill>
              </a:rPr>
              <a:t>Buzási Regina</a:t>
            </a:r>
            <a:endParaRPr lang="hu-HU"/>
          </a:p>
        </p:txBody>
      </p:sp>
      <p:pic>
        <p:nvPicPr>
          <p:cNvPr id="54" name="Kép 53" descr="Resources for Beginners Front-end Developers">
            <a:extLst>
              <a:ext uri="{FF2B5EF4-FFF2-40B4-BE49-F238E27FC236}">
                <a16:creationId xmlns:a16="http://schemas.microsoft.com/office/drawing/2014/main" id="{EDF0E0F2-12B7-B8EA-5FF1-2E35C9255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348" y="827755"/>
            <a:ext cx="2506980" cy="1318260"/>
          </a:xfrm>
          <a:prstGeom prst="rect">
            <a:avLst/>
          </a:prstGeom>
        </p:spPr>
      </p:pic>
      <p:pic>
        <p:nvPicPr>
          <p:cNvPr id="55" name="Kép 54" descr="Backend Development | Software Development | Neunen IT Consulting">
            <a:extLst>
              <a:ext uri="{FF2B5EF4-FFF2-40B4-BE49-F238E27FC236}">
                <a16:creationId xmlns:a16="http://schemas.microsoft.com/office/drawing/2014/main" id="{00790674-2014-6585-50CD-D928DCBEE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028" y="2312152"/>
            <a:ext cx="830580" cy="830580"/>
          </a:xfrm>
          <a:prstGeom prst="rect">
            <a:avLst/>
          </a:prstGeom>
        </p:spPr>
      </p:pic>
      <p:pic>
        <p:nvPicPr>
          <p:cNvPr id="56" name="Kép 55" descr="Java custom software development">
            <a:extLst>
              <a:ext uri="{FF2B5EF4-FFF2-40B4-BE49-F238E27FC236}">
                <a16:creationId xmlns:a16="http://schemas.microsoft.com/office/drawing/2014/main" id="{C0DBB3D7-6BA1-A1FF-17A2-064ABC830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278" y="2403554"/>
            <a:ext cx="1268773" cy="714996"/>
          </a:xfrm>
          <a:prstGeom prst="rect">
            <a:avLst/>
          </a:prstGeom>
        </p:spPr>
      </p:pic>
      <p:pic>
        <p:nvPicPr>
          <p:cNvPr id="57" name="Ábra 56" descr="File:PhpMyAdmin logo.svg - Wikimedia Commons">
            <a:extLst>
              <a:ext uri="{FF2B5EF4-FFF2-40B4-BE49-F238E27FC236}">
                <a16:creationId xmlns:a16="http://schemas.microsoft.com/office/drawing/2014/main" id="{19468D5F-A864-7469-A2CF-E472297A6B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86380" y="3744941"/>
            <a:ext cx="1324081" cy="719768"/>
          </a:xfrm>
          <a:prstGeom prst="rect">
            <a:avLst/>
          </a:prstGeom>
        </p:spPr>
      </p:pic>
      <p:pic>
        <p:nvPicPr>
          <p:cNvPr id="58" name="Kép 57" descr="Download MySQL Logo in SVG Vector or PNG File Format - Logo.wine">
            <a:extLst>
              <a:ext uri="{FF2B5EF4-FFF2-40B4-BE49-F238E27FC236}">
                <a16:creationId xmlns:a16="http://schemas.microsoft.com/office/drawing/2014/main" id="{F7E52A3C-8D4E-FBA3-82ED-FBB7345742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6935" y="3808503"/>
            <a:ext cx="1317662" cy="8206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err="1">
                <a:solidFill>
                  <a:srgbClr val="F5F3FF"/>
                </a:solidFill>
              </a:rPr>
              <a:t>Pettermann</a:t>
            </a:r>
            <a:r>
              <a:rPr lang="en-US" b="1">
                <a:solidFill>
                  <a:srgbClr val="F5F3FF"/>
                </a:solidFill>
              </a:rPr>
              <a:t> Shaun Pharrell</a:t>
            </a:r>
            <a:endParaRPr lang="en-US">
              <a:solidFill>
                <a:srgbClr val="F5F3FF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C26EE542-01A2-F393-2F29-A9935CAB1C35}"/>
              </a:ext>
            </a:extLst>
          </p:cNvPr>
          <p:cNvSpPr/>
          <p:nvPr/>
        </p:nvSpPr>
        <p:spPr>
          <a:xfrm>
            <a:off x="4712557" y="1508759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DE41A68-DE60-B166-339E-05EACF35D0B3}"/>
              </a:ext>
            </a:extLst>
          </p:cNvPr>
          <p:cNvSpPr/>
          <p:nvPr/>
        </p:nvSpPr>
        <p:spPr>
          <a:xfrm>
            <a:off x="4849717" y="160019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5F3FF"/>
                </a:solidFill>
              </a:rPr>
              <a:t>Bagoly Donát</a:t>
            </a:r>
            <a:endParaRPr lang="en-US" b="1">
              <a:solidFill>
                <a:srgbClr val="F5F3FF"/>
              </a:solidFill>
              <a:ea typeface="Calibri"/>
              <a:cs typeface="Calibri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3C9A07ED-BF3B-4192-4C20-378DA1C5D762}"/>
              </a:ext>
            </a:extLst>
          </p:cNvPr>
          <p:cNvSpPr/>
          <p:nvPr/>
        </p:nvSpPr>
        <p:spPr>
          <a:xfrm>
            <a:off x="4849717" y="1984247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>
              <a:solidFill>
                <a:srgbClr val="C4B5FD"/>
              </a:solidFill>
              <a:ea typeface="Calibri"/>
              <a:cs typeface="Calibri"/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0DCCCF86-AB4B-7F60-99AF-39B4E379F80C}"/>
              </a:ext>
            </a:extLst>
          </p:cNvPr>
          <p:cNvSpPr/>
          <p:nvPr/>
        </p:nvSpPr>
        <p:spPr>
          <a:xfrm>
            <a:off x="2619631" y="2945232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27C9A11F-6E4C-A545-A067-C5DD85412BEB}"/>
              </a:ext>
            </a:extLst>
          </p:cNvPr>
          <p:cNvSpPr/>
          <p:nvPr/>
        </p:nvSpPr>
        <p:spPr>
          <a:xfrm>
            <a:off x="2756791" y="3036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5F3FF"/>
                </a:solidFill>
              </a:rPr>
              <a:t>Buzási Regina</a:t>
            </a:r>
            <a:endParaRPr lang="hu-HU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5" name="Kép 24" descr="File:Visual Studio Code 1.35 icon.svg - Wikimedia Commons">
            <a:extLst>
              <a:ext uri="{FF2B5EF4-FFF2-40B4-BE49-F238E27FC236}">
                <a16:creationId xmlns:a16="http://schemas.microsoft.com/office/drawing/2014/main" id="{5538DD77-AC6E-1D59-C633-27F9B7471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230" y="1714500"/>
            <a:ext cx="926757" cy="911311"/>
          </a:xfrm>
          <a:prstGeom prst="rect">
            <a:avLst/>
          </a:prstGeom>
        </p:spPr>
      </p:pic>
      <p:pic>
        <p:nvPicPr>
          <p:cNvPr id="26" name="Kép 25" descr="Index of /_/images">
            <a:extLst>
              <a:ext uri="{FF2B5EF4-FFF2-40B4-BE49-F238E27FC236}">
                <a16:creationId xmlns:a16="http://schemas.microsoft.com/office/drawing/2014/main" id="{A8C5035B-E560-2EC1-1C8D-4B38112FF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311" y="1652716"/>
            <a:ext cx="919035" cy="973096"/>
          </a:xfrm>
          <a:prstGeom prst="rect">
            <a:avLst/>
          </a:prstGeom>
        </p:spPr>
      </p:pic>
      <p:sp>
        <p:nvSpPr>
          <p:cNvPr id="29" name="Text 5">
            <a:extLst>
              <a:ext uri="{FF2B5EF4-FFF2-40B4-BE49-F238E27FC236}">
                <a16:creationId xmlns:a16="http://schemas.microsoft.com/office/drawing/2014/main" id="{E2BBB25E-7720-47C2-7943-1F112F91C33B}"/>
              </a:ext>
            </a:extLst>
          </p:cNvPr>
          <p:cNvSpPr/>
          <p:nvPr/>
        </p:nvSpPr>
        <p:spPr>
          <a:xfrm>
            <a:off x="594359" y="1940010"/>
            <a:ext cx="2411731" cy="813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5F3FF"/>
                </a:solidFill>
                <a:latin typeface="Century"/>
                <a:ea typeface="Batang"/>
                <a:cs typeface="+mn-lt"/>
              </a:rPr>
              <a:t>Did the design, the look and feel of the website, and its basic functions.</a:t>
            </a:r>
            <a:endParaRPr lang="hu-HU" sz="1200">
              <a:latin typeface="Century"/>
              <a:ea typeface="Batang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C6D81A40-AD83-8B85-DB35-66B0D53922CC}"/>
              </a:ext>
            </a:extLst>
          </p:cNvPr>
          <p:cNvSpPr/>
          <p:nvPr/>
        </p:nvSpPr>
        <p:spPr>
          <a:xfrm>
            <a:off x="4849717" y="1963178"/>
            <a:ext cx="2689758" cy="77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5F3FF"/>
                </a:solidFill>
                <a:latin typeface="Century"/>
                <a:ea typeface="+mn-lt"/>
                <a:cs typeface="+mn-lt"/>
              </a:rPr>
              <a:t>Made the application behind the website that handles all the functions.</a:t>
            </a:r>
            <a:endParaRPr lang="hu-HU">
              <a:latin typeface="Century"/>
              <a:ea typeface="+mn-lt"/>
              <a:cs typeface="+mn-lt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843ADD85-5A0D-440D-58B7-A566255FA7A3}"/>
              </a:ext>
            </a:extLst>
          </p:cNvPr>
          <p:cNvSpPr/>
          <p:nvPr/>
        </p:nvSpPr>
        <p:spPr>
          <a:xfrm>
            <a:off x="2756791" y="3337868"/>
            <a:ext cx="2210932" cy="813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F5F3FF"/>
                </a:solidFill>
                <a:latin typeface="Century"/>
                <a:ea typeface="+mn-lt"/>
                <a:cs typeface="+mn-lt"/>
              </a:rPr>
              <a:t>Created the database and filled the tables with data and stored procedures.</a:t>
            </a: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D5BAFE21-3DEB-588A-07C7-E4CEC1C7734F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5F3FF"/>
                </a:solidFill>
                <a:latin typeface="Trebuchet MS"/>
              </a:rPr>
              <a:t>Short definition</a:t>
            </a:r>
            <a:endParaRPr lang="hu-HU">
              <a:solidFill>
                <a:srgbClr val="F5F3FF"/>
              </a:solidFill>
            </a:endParaRPr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F9C1819F-BAC0-42B0-E8DA-A37335B29FB3}"/>
              </a:ext>
            </a:extLst>
          </p:cNvPr>
          <p:cNvSpPr/>
          <p:nvPr/>
        </p:nvSpPr>
        <p:spPr>
          <a:xfrm>
            <a:off x="457200" y="789432"/>
            <a:ext cx="3398417" cy="4724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6" name="Kép 35" descr="Download Mamp - Mamp Icon PNG Image with No Background - PNGkey.com">
            <a:extLst>
              <a:ext uri="{FF2B5EF4-FFF2-40B4-BE49-F238E27FC236}">
                <a16:creationId xmlns:a16="http://schemas.microsoft.com/office/drawing/2014/main" id="{5B2B70B3-26C5-ABEF-CAA9-DD8EB6C2B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076" y="3092278"/>
            <a:ext cx="1013254" cy="10287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8A21F-A050-F6CB-08C4-91B309DFA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99B5FD-A8F6-3D7E-8146-62D235AE362C}"/>
              </a:ext>
            </a:extLst>
          </p:cNvPr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AFFD91-C411-28A7-BDEF-3442D084D8EC}"/>
              </a:ext>
            </a:extLst>
          </p:cNvPr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357711-1457-7371-6D79-8C27929D6117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Presentation </a:t>
            </a:r>
            <a:r>
              <a:rPr lang="en-US" sz="3600" b="1">
                <a:solidFill>
                  <a:srgbClr val="1E1B4B"/>
                </a:solidFill>
                <a:ea typeface="+mn-lt"/>
                <a:cs typeface="+mn-lt"/>
              </a:rPr>
              <a:t>sequence</a:t>
            </a:r>
            <a:endParaRPr lang="en-US" sz="3600" b="1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DB3561B-C3B3-33E4-A5A6-1FFBA9684E10}"/>
              </a:ext>
            </a:extLst>
          </p:cNvPr>
          <p:cNvSpPr/>
          <p:nvPr/>
        </p:nvSpPr>
        <p:spPr>
          <a:xfrm flipV="1">
            <a:off x="457200" y="836676"/>
            <a:ext cx="4800600" cy="594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D127AF0-350B-43F6-3446-9D253F5D51ED}"/>
              </a:ext>
            </a:extLst>
          </p:cNvPr>
          <p:cNvSpPr/>
          <p:nvPr/>
        </p:nvSpPr>
        <p:spPr>
          <a:xfrm>
            <a:off x="457200" y="109728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16A7115-A7C0-9460-B875-61069BD5F3DF}"/>
              </a:ext>
            </a:extLst>
          </p:cNvPr>
          <p:cNvSpPr/>
          <p:nvPr/>
        </p:nvSpPr>
        <p:spPr>
          <a:xfrm>
            <a:off x="457200" y="1097280"/>
            <a:ext cx="411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0B9E12A-DE34-8818-7794-F6D412865A07}"/>
              </a:ext>
            </a:extLst>
          </p:cNvPr>
          <p:cNvSpPr/>
          <p:nvPr/>
        </p:nvSpPr>
        <p:spPr>
          <a:xfrm>
            <a:off x="457200" y="10972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8C881FD-0B7A-192E-2222-94773BB4B05F}"/>
              </a:ext>
            </a:extLst>
          </p:cNvPr>
          <p:cNvSpPr/>
          <p:nvPr/>
        </p:nvSpPr>
        <p:spPr>
          <a:xfrm>
            <a:off x="960120" y="11430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Project Introduction</a:t>
            </a:r>
            <a:endParaRPr lang="en-US" sz="13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31B0BFB-B2FA-9A54-E7C0-B2520E9B4FE4}"/>
              </a:ext>
            </a:extLst>
          </p:cNvPr>
          <p:cNvSpPr/>
          <p:nvPr/>
        </p:nvSpPr>
        <p:spPr>
          <a:xfrm>
            <a:off x="960120" y="1508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B7280"/>
                </a:solidFill>
              </a:rPr>
              <a:t>What is SkillBook? </a:t>
            </a:r>
            <a:endParaRPr lang="en-US" sz="10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612CE55-9BF1-81FF-F612-88BBC4F28150}"/>
              </a:ext>
            </a:extLst>
          </p:cNvPr>
          <p:cNvSpPr/>
          <p:nvPr/>
        </p:nvSpPr>
        <p:spPr>
          <a:xfrm>
            <a:off x="457200" y="205740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4D8B57B-CEAA-5935-17C6-F8D7CFA5F662}"/>
              </a:ext>
            </a:extLst>
          </p:cNvPr>
          <p:cNvSpPr/>
          <p:nvPr/>
        </p:nvSpPr>
        <p:spPr>
          <a:xfrm>
            <a:off x="457200" y="2057400"/>
            <a:ext cx="411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3B894C-C16F-1B78-F255-5EEBEFE3F1FD}"/>
              </a:ext>
            </a:extLst>
          </p:cNvPr>
          <p:cNvSpPr/>
          <p:nvPr/>
        </p:nvSpPr>
        <p:spPr>
          <a:xfrm>
            <a:off x="457200" y="20574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BFB32F2-6A88-E1A0-02AF-A72AB337E9FD}"/>
              </a:ext>
            </a:extLst>
          </p:cNvPr>
          <p:cNvSpPr/>
          <p:nvPr/>
        </p:nvSpPr>
        <p:spPr>
          <a:xfrm>
            <a:off x="960120" y="2103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The Real Problem</a:t>
            </a:r>
            <a:endParaRPr lang="en-US"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A068EFC-4B48-3C5F-DD5F-1D7AD122DF6C}"/>
              </a:ext>
            </a:extLst>
          </p:cNvPr>
          <p:cNvSpPr/>
          <p:nvPr/>
        </p:nvSpPr>
        <p:spPr>
          <a:xfrm>
            <a:off x="960120" y="2468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What gap does this platform fill?</a:t>
            </a:r>
            <a:endParaRPr lang="en-US" sz="10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0655CED-0864-A3E3-6EBA-662B4FDBDD15}"/>
              </a:ext>
            </a:extLst>
          </p:cNvPr>
          <p:cNvSpPr/>
          <p:nvPr/>
        </p:nvSpPr>
        <p:spPr>
          <a:xfrm>
            <a:off x="457200" y="301752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3B739C8-BFDD-CA73-7ECF-4DD8C127D2C8}"/>
              </a:ext>
            </a:extLst>
          </p:cNvPr>
          <p:cNvSpPr/>
          <p:nvPr/>
        </p:nvSpPr>
        <p:spPr>
          <a:xfrm>
            <a:off x="457200" y="3017520"/>
            <a:ext cx="411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8B568A-692A-9E77-7FE1-F58E38DD852C}"/>
              </a:ext>
            </a:extLst>
          </p:cNvPr>
          <p:cNvSpPr/>
          <p:nvPr/>
        </p:nvSpPr>
        <p:spPr>
          <a:xfrm>
            <a:off x="457200" y="30175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165F189-1A99-4069-04F8-11802B4CEF0B}"/>
              </a:ext>
            </a:extLst>
          </p:cNvPr>
          <p:cNvSpPr/>
          <p:nvPr/>
        </p:nvSpPr>
        <p:spPr>
          <a:xfrm>
            <a:off x="960120" y="30632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Key Features</a:t>
            </a:r>
            <a:endParaRPr lang="en-US" sz="13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E925934-C58F-C5FB-7DD3-F093FD994B6F}"/>
              </a:ext>
            </a:extLst>
          </p:cNvPr>
          <p:cNvSpPr/>
          <p:nvPr/>
        </p:nvSpPr>
        <p:spPr>
          <a:xfrm>
            <a:off x="960120" y="34290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Students, instructors, and admin capabilities</a:t>
            </a:r>
            <a:endParaRPr lang="en-US" sz="10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0D0A64D-02B3-14BF-12F8-82CC8FF3937F}"/>
              </a:ext>
            </a:extLst>
          </p:cNvPr>
          <p:cNvSpPr/>
          <p:nvPr/>
        </p:nvSpPr>
        <p:spPr>
          <a:xfrm>
            <a:off x="457200" y="397764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2288F04-0613-9709-7C7C-C43BCFF31945}"/>
              </a:ext>
            </a:extLst>
          </p:cNvPr>
          <p:cNvSpPr/>
          <p:nvPr/>
        </p:nvSpPr>
        <p:spPr>
          <a:xfrm>
            <a:off x="457200" y="3977640"/>
            <a:ext cx="411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610729D-4C7E-5365-9DBE-0E8F7E3AB548}"/>
              </a:ext>
            </a:extLst>
          </p:cNvPr>
          <p:cNvSpPr/>
          <p:nvPr/>
        </p:nvSpPr>
        <p:spPr>
          <a:xfrm>
            <a:off x="457200" y="39776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96886E7-FB9A-9876-0307-2CEBBE417D51}"/>
              </a:ext>
            </a:extLst>
          </p:cNvPr>
          <p:cNvSpPr/>
          <p:nvPr/>
        </p:nvSpPr>
        <p:spPr>
          <a:xfrm>
            <a:off x="960120" y="4023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Design Plan</a:t>
            </a:r>
            <a:endParaRPr lang="en-US" sz="13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5A1F75A-70D1-2014-CE22-2F1F2353AC8D}"/>
              </a:ext>
            </a:extLst>
          </p:cNvPr>
          <p:cNvSpPr/>
          <p:nvPr/>
        </p:nvSpPr>
        <p:spPr>
          <a:xfrm>
            <a:off x="960120" y="4389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UI/UX overview and page structure</a:t>
            </a:r>
            <a:endParaRPr lang="en-US" sz="10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5138F48-D0B7-F807-B823-56DEDBAA8884}"/>
              </a:ext>
            </a:extLst>
          </p:cNvPr>
          <p:cNvSpPr/>
          <p:nvPr/>
        </p:nvSpPr>
        <p:spPr>
          <a:xfrm>
            <a:off x="4846320" y="109728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11138FF-C42C-35A3-8324-58C80F48D101}"/>
              </a:ext>
            </a:extLst>
          </p:cNvPr>
          <p:cNvSpPr/>
          <p:nvPr/>
        </p:nvSpPr>
        <p:spPr>
          <a:xfrm>
            <a:off x="4846320" y="1097280"/>
            <a:ext cx="4114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9C948FA-4341-84BC-33D7-81A3C33A9C7B}"/>
              </a:ext>
            </a:extLst>
          </p:cNvPr>
          <p:cNvSpPr/>
          <p:nvPr/>
        </p:nvSpPr>
        <p:spPr>
          <a:xfrm>
            <a:off x="5349240" y="11430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Database Design</a:t>
            </a:r>
            <a:endParaRPr lang="en-US" sz="13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80D9584-4E8E-6988-A164-7726493424DF}"/>
              </a:ext>
            </a:extLst>
          </p:cNvPr>
          <p:cNvSpPr/>
          <p:nvPr/>
        </p:nvSpPr>
        <p:spPr>
          <a:xfrm>
            <a:off x="5349240" y="1508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Tables, relationships, stored procedures</a:t>
            </a:r>
            <a:endParaRPr lang="en-US" sz="100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86E1D78-D287-3FDB-886D-7968CDF1B4F2}"/>
              </a:ext>
            </a:extLst>
          </p:cNvPr>
          <p:cNvSpPr/>
          <p:nvPr/>
        </p:nvSpPr>
        <p:spPr>
          <a:xfrm>
            <a:off x="4846320" y="205740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F878145-5A59-5B17-163F-722FAAABC743}"/>
              </a:ext>
            </a:extLst>
          </p:cNvPr>
          <p:cNvSpPr/>
          <p:nvPr/>
        </p:nvSpPr>
        <p:spPr>
          <a:xfrm>
            <a:off x="4846320" y="2057400"/>
            <a:ext cx="4114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5B47E15-34AC-2807-F207-D070C8291A0D}"/>
              </a:ext>
            </a:extLst>
          </p:cNvPr>
          <p:cNvSpPr/>
          <p:nvPr/>
        </p:nvSpPr>
        <p:spPr>
          <a:xfrm>
            <a:off x="4846320" y="20574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48F5179-F8E1-CBB2-A5E9-8D014DCBB29E}"/>
              </a:ext>
            </a:extLst>
          </p:cNvPr>
          <p:cNvSpPr/>
          <p:nvPr/>
        </p:nvSpPr>
        <p:spPr>
          <a:xfrm>
            <a:off x="5349240" y="2103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Tech Stack</a:t>
            </a:r>
            <a:endParaRPr lang="en-US" sz="13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07AD1BE-CFB4-5569-5747-06F137274A7B}"/>
              </a:ext>
            </a:extLst>
          </p:cNvPr>
          <p:cNvSpPr/>
          <p:nvPr/>
        </p:nvSpPr>
        <p:spPr>
          <a:xfrm>
            <a:off x="5349240" y="2468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Frontend, backend, and database technology</a:t>
            </a:r>
            <a:endParaRPr lang="en-US" sz="100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EB4C9F7-3642-2D11-8692-C5391CAA0479}"/>
              </a:ext>
            </a:extLst>
          </p:cNvPr>
          <p:cNvSpPr/>
          <p:nvPr/>
        </p:nvSpPr>
        <p:spPr>
          <a:xfrm>
            <a:off x="4846320" y="301752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F235B85-0BC8-11D0-F87D-A851BAFC8080}"/>
              </a:ext>
            </a:extLst>
          </p:cNvPr>
          <p:cNvSpPr/>
          <p:nvPr/>
        </p:nvSpPr>
        <p:spPr>
          <a:xfrm>
            <a:off x="4846320" y="3017520"/>
            <a:ext cx="4114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939EDAE-1D1A-5BE1-EABA-083550E3161C}"/>
              </a:ext>
            </a:extLst>
          </p:cNvPr>
          <p:cNvSpPr/>
          <p:nvPr/>
        </p:nvSpPr>
        <p:spPr>
          <a:xfrm>
            <a:off x="4846320" y="30175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7A43F1A-2593-9CFD-A7C4-D53D1AD4334A}"/>
              </a:ext>
            </a:extLst>
          </p:cNvPr>
          <p:cNvSpPr/>
          <p:nvPr/>
        </p:nvSpPr>
        <p:spPr>
          <a:xfrm>
            <a:off x="5349240" y="30632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Why We Built This</a:t>
            </a:r>
            <a:endParaRPr lang="en-US" sz="13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AD016D8-A4B1-E52D-0405-34ECB01E1181}"/>
              </a:ext>
            </a:extLst>
          </p:cNvPr>
          <p:cNvSpPr/>
          <p:nvPr/>
        </p:nvSpPr>
        <p:spPr>
          <a:xfrm>
            <a:off x="5349240" y="34290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Motivation and goals</a:t>
            </a:r>
            <a:endParaRPr lang="en-US" sz="100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D1BCDA9-1C4A-FDD5-3F26-BE2A68EB265A}"/>
              </a:ext>
            </a:extLst>
          </p:cNvPr>
          <p:cNvSpPr/>
          <p:nvPr/>
        </p:nvSpPr>
        <p:spPr>
          <a:xfrm>
            <a:off x="4846320" y="3977640"/>
            <a:ext cx="41148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5F8FA230-E06D-70AD-253B-66BA97694EE0}"/>
              </a:ext>
            </a:extLst>
          </p:cNvPr>
          <p:cNvSpPr/>
          <p:nvPr/>
        </p:nvSpPr>
        <p:spPr>
          <a:xfrm>
            <a:off x="4846320" y="3977640"/>
            <a:ext cx="4114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8018098-5F7E-46C7-6BC8-C4DD509988EA}"/>
              </a:ext>
            </a:extLst>
          </p:cNvPr>
          <p:cNvSpPr/>
          <p:nvPr/>
        </p:nvSpPr>
        <p:spPr>
          <a:xfrm>
            <a:off x="4846320" y="39776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E281426-5AC2-5D35-0CAD-4FD0EDAB06F9}"/>
              </a:ext>
            </a:extLst>
          </p:cNvPr>
          <p:cNvSpPr/>
          <p:nvPr/>
        </p:nvSpPr>
        <p:spPr>
          <a:xfrm>
            <a:off x="5349240" y="4023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Q&amp;A</a:t>
            </a:r>
            <a:endParaRPr lang="en-US" sz="13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E91F093-62C5-BCD8-CE7F-C5737A0B0C13}"/>
              </a:ext>
            </a:extLst>
          </p:cNvPr>
          <p:cNvSpPr/>
          <p:nvPr/>
        </p:nvSpPr>
        <p:spPr>
          <a:xfrm>
            <a:off x="5349240" y="4389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</a:rPr>
              <a:t>Questions and discussion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509267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66122" y="-1325262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SkillBook?</a:t>
            </a:r>
            <a:endParaRPr lang="en-US" sz="340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3623618" cy="6258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36"/>
            <a:ext cx="4846320" cy="713232"/>
          </a:xfrm>
          <a:prstGeom prst="rect">
            <a:avLst/>
          </a:prstGeom>
          <a:solidFill>
            <a:srgbClr val="FAF8FF"/>
          </a:solidFill>
          <a:ln w="1270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78936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246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🎓 Students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640080" y="14264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</a:rPr>
              <a:t>Browse, enroll and learn from courses. Leave reviews, chat with instructors.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57200" y="1901896"/>
            <a:ext cx="4846320" cy="713232"/>
          </a:xfrm>
          <a:prstGeom prst="rect">
            <a:avLst/>
          </a:prstGeom>
          <a:solidFill>
            <a:srgbClr val="FAF8FF"/>
          </a:solidFill>
          <a:ln w="1270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01896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947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👩‍🏫 Instructors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640080" y="2249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</a:rPr>
              <a:t>Create and manage courses, upload materials, answer student messages.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57200" y="2724856"/>
            <a:ext cx="4846320" cy="713232"/>
          </a:xfrm>
          <a:prstGeom prst="rect">
            <a:avLst/>
          </a:prstGeom>
          <a:solidFill>
            <a:srgbClr val="FAF8FF"/>
          </a:solidFill>
          <a:ln w="1270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24856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705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1B4B"/>
                </a:solidFill>
              </a:rPr>
              <a:t>🛡️ Admins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640080" y="3072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</a:rPr>
              <a:t>Full platform oversight: manage users, courses, categories, and all content.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5685962" y="1083482"/>
            <a:ext cx="3108960" cy="3754601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85962" y="126636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C4B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SkillBook</a:t>
            </a:r>
            <a:endParaRPr lang="en-US" sz="2200"/>
          </a:p>
        </p:txBody>
      </p:sp>
      <p:sp>
        <p:nvSpPr>
          <p:cNvPr id="21" name="Shape 19"/>
          <p:cNvSpPr/>
          <p:nvPr/>
        </p:nvSpPr>
        <p:spPr>
          <a:xfrm>
            <a:off x="6552383" y="1692461"/>
            <a:ext cx="1397283" cy="5774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7402" y="190644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9D5FF"/>
                </a:solidFill>
                <a:latin typeface="Century"/>
              </a:rPr>
              <a:t>📖 Course Catalog</a:t>
            </a:r>
            <a:endParaRPr lang="en-US" sz="1200">
              <a:latin typeface="Century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77402" y="230877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7F3D0"/>
                </a:solidFill>
                <a:latin typeface="Century"/>
              </a:rPr>
              <a:t>✍️ Easy Enrollment</a:t>
            </a:r>
            <a:endParaRPr lang="en-US" sz="1200">
              <a:latin typeface="Century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777402" y="271111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9D5FF"/>
                </a:solidFill>
                <a:latin typeface="Century"/>
              </a:rPr>
              <a:t>📁 Material Upload</a:t>
            </a:r>
            <a:endParaRPr lang="en-US" sz="1200">
              <a:latin typeface="Century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69679" y="3160529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9D5FF"/>
                </a:solidFill>
                <a:latin typeface="Century"/>
              </a:rPr>
              <a:t>💬 Direct Messaging</a:t>
            </a:r>
            <a:endParaRPr lang="en-US" sz="1200">
              <a:latin typeface="Century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769679" y="3562865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7F3D0"/>
                </a:solidFill>
                <a:latin typeface="Century"/>
              </a:rPr>
              <a:t>⭐ Course Reviews</a:t>
            </a:r>
            <a:endParaRPr lang="en-US" sz="1200">
              <a:latin typeface="Century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785125" y="4004557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7F3D0"/>
                </a:solidFill>
                <a:latin typeface="Century"/>
              </a:rPr>
              <a:t>🔐 Secure Auth</a:t>
            </a:r>
            <a:endParaRPr lang="en-US" sz="1200">
              <a:latin typeface="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04863-618F-5D27-BF78-7FEA2159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F4E0E4-AB2C-3CA4-849F-89480A8065F7}"/>
              </a:ext>
            </a:extLst>
          </p:cNvPr>
          <p:cNvSpPr/>
          <p:nvPr/>
        </p:nvSpPr>
        <p:spPr>
          <a:xfrm>
            <a:off x="6479574" y="-1084305"/>
            <a:ext cx="3657600" cy="36576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D47730-D00E-1F5B-9D0E-89AACAD68DEB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Trebuchet MS"/>
              </a:rPr>
              <a:t>Why we build </a:t>
            </a:r>
            <a:r>
              <a:rPr lang="en-US" sz="3600" b="1" err="1">
                <a:solidFill>
                  <a:srgbClr val="FFFFFF"/>
                </a:solidFill>
                <a:latin typeface="Trebuchet MS"/>
              </a:rPr>
              <a:t>SkillBook</a:t>
            </a:r>
            <a:r>
              <a:rPr lang="en-US" sz="3600" b="1">
                <a:solidFill>
                  <a:srgbClr val="FFFFFF"/>
                </a:solidFill>
                <a:latin typeface="Trebuchet MS"/>
              </a:rPr>
              <a:t>?</a:t>
            </a:r>
            <a:endParaRPr lang="en-US" sz="36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C5D5DB-5E7B-68CF-D313-B3D8AF641383}"/>
              </a:ext>
            </a:extLst>
          </p:cNvPr>
          <p:cNvSpPr/>
          <p:nvPr/>
        </p:nvSpPr>
        <p:spPr>
          <a:xfrm>
            <a:off x="457200" y="900992"/>
            <a:ext cx="5103959" cy="54865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45450C-617B-2525-A5AC-9BE678A999A4}"/>
              </a:ext>
            </a:extLst>
          </p:cNvPr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>
                <a:solidFill>
                  <a:srgbClr val="A78BFA"/>
                </a:solidFill>
              </a:rPr>
              <a:t>And what gap does </a:t>
            </a:r>
            <a:r>
              <a:rPr lang="en-US" sz="1500" i="1" err="1">
                <a:solidFill>
                  <a:srgbClr val="A78BFA"/>
                </a:solidFill>
              </a:rPr>
              <a:t>SkillBook</a:t>
            </a:r>
            <a:r>
              <a:rPr lang="en-US" sz="1500" i="1">
                <a:solidFill>
                  <a:srgbClr val="A78BFA"/>
                </a:solidFill>
              </a:rPr>
              <a:t> fill?</a:t>
            </a:r>
            <a:endParaRPr lang="en-US" sz="15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8CA016D-B5C9-7D77-D257-9A8BC8BB1443}"/>
              </a:ext>
            </a:extLst>
          </p:cNvPr>
          <p:cNvSpPr/>
          <p:nvPr/>
        </p:nvSpPr>
        <p:spPr>
          <a:xfrm>
            <a:off x="457200" y="150876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8B4F6BC-D2C2-5CFB-56A3-CA2B830F05EC}"/>
              </a:ext>
            </a:extLst>
          </p:cNvPr>
          <p:cNvSpPr/>
          <p:nvPr/>
        </p:nvSpPr>
        <p:spPr>
          <a:xfrm>
            <a:off x="59436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9D5FF"/>
                </a:solidFill>
              </a:rPr>
              <a:t>😤 Too many tools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5A88926-1555-6C28-D525-0C634BF6242D}"/>
              </a:ext>
            </a:extLst>
          </p:cNvPr>
          <p:cNvSpPr/>
          <p:nvPr/>
        </p:nvSpPr>
        <p:spPr>
          <a:xfrm>
            <a:off x="457200" y="301752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6348F60-2273-F947-78A8-2A159CAA45D3}"/>
              </a:ext>
            </a:extLst>
          </p:cNvPr>
          <p:cNvSpPr/>
          <p:nvPr/>
        </p:nvSpPr>
        <p:spPr>
          <a:xfrm>
            <a:off x="59436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D5FF"/>
                </a:solidFill>
              </a:rPr>
              <a:t>📋 No unified booking system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9EFB665-0E45-9902-70BD-20CC122CAA7E}"/>
              </a:ext>
            </a:extLst>
          </p:cNvPr>
          <p:cNvSpPr/>
          <p:nvPr/>
        </p:nvSpPr>
        <p:spPr>
          <a:xfrm>
            <a:off x="594360" y="34930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C4B5FD"/>
                </a:solidFill>
                <a:latin typeface="Century"/>
              </a:rPr>
              <a:t>No easy way for learners to browse available courses, check uploaded materials, and profile management.</a:t>
            </a:r>
            <a:endParaRPr lang="en-US" sz="1200">
              <a:solidFill>
                <a:srgbClr val="C4B5FD"/>
              </a:solidFill>
              <a:latin typeface="Century"/>
              <a:ea typeface="Calibri"/>
              <a:cs typeface="Calibri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6F586EB-1685-5963-21F8-4DF29773240F}"/>
              </a:ext>
            </a:extLst>
          </p:cNvPr>
          <p:cNvSpPr/>
          <p:nvPr/>
        </p:nvSpPr>
        <p:spPr>
          <a:xfrm>
            <a:off x="4846320" y="150876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009DB09-4786-0DAA-385F-F0BEB097A939}"/>
              </a:ext>
            </a:extLst>
          </p:cNvPr>
          <p:cNvSpPr/>
          <p:nvPr/>
        </p:nvSpPr>
        <p:spPr>
          <a:xfrm>
            <a:off x="498348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D5FF"/>
                </a:solidFill>
              </a:rPr>
              <a:t>👨‍🏫 Instructors lack control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3C9869E-C587-6826-F337-6ACC3E2CFB1D}"/>
              </a:ext>
            </a:extLst>
          </p:cNvPr>
          <p:cNvSpPr/>
          <p:nvPr/>
        </p:nvSpPr>
        <p:spPr>
          <a:xfrm>
            <a:off x="4846320" y="3017520"/>
            <a:ext cx="41148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7FC4BA1-A3BD-62A4-B1CB-CB87B9B92181}"/>
              </a:ext>
            </a:extLst>
          </p:cNvPr>
          <p:cNvSpPr/>
          <p:nvPr/>
        </p:nvSpPr>
        <p:spPr>
          <a:xfrm>
            <a:off x="498348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D5FF"/>
                </a:solidFill>
              </a:rPr>
              <a:t>🏫 Missing community layer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E95CA8B-40BD-039F-8FD1-B46BCE2D2AD2}"/>
              </a:ext>
            </a:extLst>
          </p:cNvPr>
          <p:cNvSpPr/>
          <p:nvPr/>
        </p:nvSpPr>
        <p:spPr>
          <a:xfrm>
            <a:off x="4983480" y="34930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4B5FD"/>
                </a:solidFill>
                <a:latin typeface="Century"/>
              </a:rPr>
              <a:t>No built in communication between students and instructors leads to lower engagement and higher dropout rates.</a:t>
            </a:r>
            <a:endParaRPr lang="en-US" sz="1200" dirty="0">
              <a:latin typeface="Century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8CD6FD5-E87D-07F6-F2C4-FC4F870E7590}"/>
              </a:ext>
            </a:extLst>
          </p:cNvPr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6EE7B7"/>
                </a:solidFill>
              </a:rPr>
              <a:t>✅  </a:t>
            </a:r>
            <a:r>
              <a:rPr lang="en-US" sz="1600" b="1" err="1">
                <a:solidFill>
                  <a:srgbClr val="6EE7B7"/>
                </a:solidFill>
              </a:rPr>
              <a:t>SkillBook</a:t>
            </a:r>
            <a:r>
              <a:rPr lang="en-US" sz="1600" b="1">
                <a:solidFill>
                  <a:srgbClr val="6EE7B7"/>
                </a:solidFill>
              </a:rPr>
              <a:t> solves all of this. One platform for learning, booking, and communication.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21" name="Kép 20" descr="Google drive icon. Google product illustration. 12871368 PNG">
            <a:extLst>
              <a:ext uri="{FF2B5EF4-FFF2-40B4-BE49-F238E27FC236}">
                <a16:creationId xmlns:a16="http://schemas.microsoft.com/office/drawing/2014/main" id="{9DE8A06F-CB35-6E41-1F12-C515872FD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788" y="1965087"/>
            <a:ext cx="817034" cy="740602"/>
          </a:xfrm>
          <a:prstGeom prst="rect">
            <a:avLst/>
          </a:prstGeom>
        </p:spPr>
      </p:pic>
      <p:pic>
        <p:nvPicPr>
          <p:cNvPr id="22" name="Kép 21" descr="Whatsapp Icons PNG, Vector, PSD, and Clipart With Transparent Background  for Free Download | Pngtree">
            <a:extLst>
              <a:ext uri="{FF2B5EF4-FFF2-40B4-BE49-F238E27FC236}">
                <a16:creationId xmlns:a16="http://schemas.microsoft.com/office/drawing/2014/main" id="{857208EC-F48A-B246-45D9-5D3264BC6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1444" y="1901471"/>
            <a:ext cx="790223" cy="839612"/>
          </a:xfrm>
          <a:prstGeom prst="rect">
            <a:avLst/>
          </a:prstGeom>
        </p:spPr>
      </p:pic>
      <p:pic>
        <p:nvPicPr>
          <p:cNvPr id="23" name="Kép 22" descr="File:Gmail icon (2020).svg - Wikimedia Commons">
            <a:extLst>
              <a:ext uri="{FF2B5EF4-FFF2-40B4-BE49-F238E27FC236}">
                <a16:creationId xmlns:a16="http://schemas.microsoft.com/office/drawing/2014/main" id="{A2FDB141-5156-8426-743A-695CC997DB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499" y="2035527"/>
            <a:ext cx="860779" cy="677335"/>
          </a:xfrm>
          <a:prstGeom prst="rect">
            <a:avLst/>
          </a:prstGeom>
        </p:spPr>
      </p:pic>
      <p:pic>
        <p:nvPicPr>
          <p:cNvPr id="26" name="Kép 25" descr="Learning material - Free education icons">
            <a:extLst>
              <a:ext uri="{FF2B5EF4-FFF2-40B4-BE49-F238E27FC236}">
                <a16:creationId xmlns:a16="http://schemas.microsoft.com/office/drawing/2014/main" id="{2697AAC1-BF72-9A1C-C65B-F967852DF6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8433" y="1847848"/>
            <a:ext cx="918635" cy="953914"/>
          </a:xfrm>
          <a:prstGeom prst="rect">
            <a:avLst/>
          </a:prstGeom>
        </p:spPr>
      </p:pic>
      <p:pic>
        <p:nvPicPr>
          <p:cNvPr id="27" name="Kép 26" descr="Progress - Free people icons">
            <a:extLst>
              <a:ext uri="{FF2B5EF4-FFF2-40B4-BE49-F238E27FC236}">
                <a16:creationId xmlns:a16="http://schemas.microsoft.com/office/drawing/2014/main" id="{BA1DFAB0-D80B-778E-BD77-5A10F04C2A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9489" y="1798459"/>
            <a:ext cx="946857" cy="92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19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9876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9876" y="818078"/>
            <a:ext cx="2772547" cy="4714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4301" y="105156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54301" y="105156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4301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📚</a:t>
            </a:r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1445741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Course catalog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45741" y="2075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7280"/>
                </a:solidFill>
                <a:latin typeface="Century"/>
              </a:rPr>
              <a:t>Browse courses across 36 categories</a:t>
            </a:r>
            <a:endParaRPr lang="en-US" sz="1100">
              <a:latin typeface="Century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503141" y="105156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03141" y="105156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3141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✍️</a:t>
            </a:r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3594581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Easy enrollment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94581" y="2075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One-click registration for any course</a:t>
            </a:r>
            <a:endParaRPr lang="en-US" sz="1100">
              <a:latin typeface="Century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51981" y="105156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51981" y="105156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1981" y="1188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📁</a:t>
            </a:r>
            <a:endParaRPr lang="en-US" sz="3200"/>
          </a:p>
        </p:txBody>
      </p:sp>
      <p:sp>
        <p:nvSpPr>
          <p:cNvPr id="19" name="Text 17"/>
          <p:cNvSpPr/>
          <p:nvPr/>
        </p:nvSpPr>
        <p:spPr>
          <a:xfrm>
            <a:off x="5743421" y="1737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Material upload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43421" y="20756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Teachers upload PDFs, images, documents</a:t>
            </a:r>
            <a:endParaRPr lang="en-US" sz="1100">
              <a:latin typeface="Century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354301" y="301752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54301" y="301752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54301" y="3154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💬</a:t>
            </a:r>
            <a:endParaRPr lang="en-US" sz="3200"/>
          </a:p>
        </p:txBody>
      </p:sp>
      <p:sp>
        <p:nvSpPr>
          <p:cNvPr id="29" name="Text 27"/>
          <p:cNvSpPr/>
          <p:nvPr/>
        </p:nvSpPr>
        <p:spPr>
          <a:xfrm>
            <a:off x="1445741" y="3703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1B4B"/>
                </a:solidFill>
              </a:rPr>
              <a:t>Messaging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1445741" y="404164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Direct chat between students and instructors</a:t>
            </a:r>
            <a:endParaRPr lang="en-US" sz="1100">
              <a:latin typeface="Century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503141" y="3017520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03141" y="3017520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3141" y="3154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⭐</a:t>
            </a:r>
            <a:endParaRPr lang="en-US" sz="3200"/>
          </a:p>
        </p:txBody>
      </p:sp>
      <p:sp>
        <p:nvSpPr>
          <p:cNvPr id="34" name="Text 32"/>
          <p:cNvSpPr/>
          <p:nvPr/>
        </p:nvSpPr>
        <p:spPr>
          <a:xfrm>
            <a:off x="3594581" y="3703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Reviews &amp; ratings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94581" y="404164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Students rate and review completed courses</a:t>
            </a:r>
            <a:endParaRPr lang="en-US" sz="1100">
              <a:latin typeface="Century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669280" y="3025243"/>
            <a:ext cx="1965960" cy="1783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669280" y="3025243"/>
            <a:ext cx="1965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3162403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🔐</a:t>
            </a:r>
            <a:endParaRPr lang="en-US" sz="3200"/>
          </a:p>
        </p:txBody>
      </p:sp>
      <p:sp>
        <p:nvSpPr>
          <p:cNvPr id="44" name="Text 42"/>
          <p:cNvSpPr/>
          <p:nvPr/>
        </p:nvSpPr>
        <p:spPr>
          <a:xfrm>
            <a:off x="5760720" y="3711043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</a:rPr>
              <a:t>Secure auth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760720" y="4049371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entury"/>
              </a:rPr>
              <a:t>JWT-based authentication with role access control</a:t>
            </a:r>
            <a:endParaRPr lang="en-US" sz="1100">
              <a:latin typeface="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Design plan – home page</a:t>
            </a:r>
            <a:endParaRPr lang="en-US" sz="3400">
              <a:latin typeface="Trebuchet M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489835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</a:rPr>
              <a:t>Page Structure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303520" y="1417320"/>
            <a:ext cx="1691640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417320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🏠 Home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7132320" y="1417320"/>
            <a:ext cx="1691640" cy="5486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1417320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📚 Course Listing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5303520" y="2084832"/>
            <a:ext cx="1691640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🔍 Course Detail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7132320" y="2084832"/>
            <a:ext cx="1691640" cy="5486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👤 User Profile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303520" y="2752344"/>
            <a:ext cx="1691640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2752344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➕ Create Course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7132320" y="2752344"/>
            <a:ext cx="1691640" cy="5486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752344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📋 My Courses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5303520" y="3419856"/>
            <a:ext cx="1691640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419856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💬 Messaging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7132320" y="3419856"/>
            <a:ext cx="1691640" cy="5486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3419856"/>
            <a:ext cx="16002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1B4B"/>
                </a:solidFill>
              </a:rPr>
              <a:t>🛡️ Admin Panel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1B4B"/>
                </a:solidFill>
              </a:rPr>
              <a:t>Brand Colors: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457200" y="4407408"/>
            <a:ext cx="1737360" cy="411480"/>
          </a:xfrm>
          <a:prstGeom prst="snip2DiagRect">
            <a:avLst/>
          </a:prstGeom>
          <a:solidFill>
            <a:srgbClr val="7C3AED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280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Primary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#</a:t>
            </a:r>
            <a:r>
              <a:rPr lang="en-US" sz="900">
                <a:solidFill>
                  <a:srgbClr val="6B7280"/>
                </a:solidFill>
                <a:ea typeface="+mn-lt"/>
                <a:cs typeface="+mn-lt"/>
              </a:rPr>
              <a:t>7c3aed</a:t>
            </a:r>
            <a:endParaRPr lang="en-US" sz="900">
              <a:ea typeface="+mn-lt"/>
              <a:cs typeface="+mn-lt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468880" y="4407408"/>
            <a:ext cx="1737360" cy="411480"/>
          </a:xfrm>
          <a:prstGeom prst="snip2DiagRect">
            <a:avLst/>
          </a:prstGeom>
          <a:solidFill>
            <a:srgbClr val="059669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48280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Secondary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#059669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480560" y="4407408"/>
            <a:ext cx="1737360" cy="411480"/>
          </a:xfrm>
          <a:prstGeom prst="snip2DiagRect">
            <a:avLst/>
          </a:prstGeom>
          <a:solidFill>
            <a:srgbClr val="F5F3FF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48280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Background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ea typeface="+mn-lt"/>
                <a:cs typeface="+mn-lt"/>
              </a:rPr>
              <a:t>#f5f3ff</a:t>
            </a:r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92240" y="4407408"/>
            <a:ext cx="1737360" cy="411480"/>
          </a:xfrm>
          <a:prstGeom prst="snip2DiagRect">
            <a:avLst/>
          </a:prstGeom>
          <a:solidFill>
            <a:srgbClr val="1E1B4B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8280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Text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</a:rPr>
              <a:t>#1e1b4b</a:t>
            </a:r>
            <a:endParaRPr lang="en-US" sz="900"/>
          </a:p>
        </p:txBody>
      </p:sp>
      <p:pic>
        <p:nvPicPr>
          <p:cNvPr id="39" name="Kép 38" descr="Figma logo - Free Icon PNG, SVG">
            <a:extLst>
              <a:ext uri="{FF2B5EF4-FFF2-40B4-BE49-F238E27FC236}">
                <a16:creationId xmlns:a16="http://schemas.microsoft.com/office/drawing/2014/main" id="{E632B05C-0023-CC4F-B792-471A95379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642" y="156410"/>
            <a:ext cx="2148531" cy="1010652"/>
          </a:xfrm>
          <a:prstGeom prst="rect">
            <a:avLst/>
          </a:prstGeom>
        </p:spPr>
      </p:pic>
      <p:pic>
        <p:nvPicPr>
          <p:cNvPr id="6" name="Kép 5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44F361BA-7C09-BAE9-BFC5-C137B7BC0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20" y="1416326"/>
            <a:ext cx="4285039" cy="25510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3EA2D4EC-7920-91B0-5C80-5B9DC0ED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413" y="978391"/>
            <a:ext cx="5410618" cy="3766918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0D4D379-8FB3-C98F-F33F-A9A070118131}"/>
              </a:ext>
            </a:extLst>
          </p:cNvPr>
          <p:cNvSpPr/>
          <p:nvPr/>
        </p:nvSpPr>
        <p:spPr>
          <a:xfrm>
            <a:off x="407811" y="1402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Design plan – courses page</a:t>
            </a:r>
            <a:endParaRPr lang="en-US" sz="3400" dirty="0">
              <a:latin typeface="Trebuchet MS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FFDFB3F6-991B-1A24-33C0-7AC471F38263}"/>
              </a:ext>
            </a:extLst>
          </p:cNvPr>
          <p:cNvSpPr/>
          <p:nvPr/>
        </p:nvSpPr>
        <p:spPr>
          <a:xfrm>
            <a:off x="407811" y="707192"/>
            <a:ext cx="489835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783B9867-F98B-0F7C-78F5-B4CB6B832D90}"/>
              </a:ext>
            </a:extLst>
          </p:cNvPr>
          <p:cNvSpPr/>
          <p:nvPr/>
        </p:nvSpPr>
        <p:spPr>
          <a:xfrm>
            <a:off x="-1018822" y="3101622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63A9A54D-5C7A-764E-26E8-B3D34B3D7B86}"/>
              </a:ext>
            </a:extLst>
          </p:cNvPr>
          <p:cNvSpPr/>
          <p:nvPr/>
        </p:nvSpPr>
        <p:spPr>
          <a:xfrm>
            <a:off x="-2758722" y="14859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41583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Backend layers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195869" cy="4714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</a:rPr>
              <a:t>4 </a:t>
            </a:r>
            <a:r>
              <a:rPr lang="en-US" sz="1300" i="1" dirty="0">
                <a:solidFill>
                  <a:srgbClr val="6B7280"/>
                </a:solidFill>
              </a:rPr>
              <a:t>backend layers:</a:t>
            </a:r>
          </a:p>
        </p:txBody>
      </p:sp>
      <p:sp>
        <p:nvSpPr>
          <p:cNvPr id="8" name="Shape 6"/>
          <p:cNvSpPr/>
          <p:nvPr/>
        </p:nvSpPr>
        <p:spPr>
          <a:xfrm>
            <a:off x="1304149" y="1639993"/>
            <a:ext cx="3038121" cy="38433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4149" y="1639993"/>
            <a:ext cx="3038121" cy="38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"/>
                <a:cs typeface="Angsana New"/>
              </a:rPr>
              <a:t>Controller</a:t>
            </a:r>
            <a:endParaRPr lang="en-US" sz="1400" dirty="0">
              <a:latin typeface="Century"/>
              <a:cs typeface="Angsana New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08608" y="2225604"/>
            <a:ext cx="3038121" cy="38433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8608" y="2225604"/>
            <a:ext cx="3038121" cy="38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"/>
                <a:cs typeface="Angsana New"/>
              </a:rPr>
              <a:t>Model</a:t>
            </a:r>
            <a:endParaRPr lang="en-US" sz="1400" dirty="0">
              <a:latin typeface="Century"/>
              <a:cs typeface="Angsana New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307727" y="2801203"/>
            <a:ext cx="3038121" cy="38433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727" y="2801203"/>
            <a:ext cx="3038121" cy="38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"/>
                <a:ea typeface="Calibri"/>
                <a:cs typeface="Angsana New"/>
              </a:rPr>
              <a:t>Security</a:t>
            </a:r>
          </a:p>
        </p:txBody>
      </p:sp>
      <p:sp>
        <p:nvSpPr>
          <p:cNvPr id="20" name="Shape 18"/>
          <p:cNvSpPr/>
          <p:nvPr/>
        </p:nvSpPr>
        <p:spPr>
          <a:xfrm>
            <a:off x="1312187" y="3330371"/>
            <a:ext cx="3038121" cy="38433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12187" y="3330371"/>
            <a:ext cx="3038121" cy="384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"/>
                <a:cs typeface="Angsana New"/>
              </a:rPr>
              <a:t>Service</a:t>
            </a:r>
            <a:endParaRPr lang="hu-HU" sz="2400" dirty="0">
              <a:latin typeface="Century"/>
              <a:cs typeface="Angsana New"/>
            </a:endParaRPr>
          </a:p>
        </p:txBody>
      </p:sp>
      <p:pic>
        <p:nvPicPr>
          <p:cNvPr id="39" name="Kép 38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56F98BA3-898D-3C32-841C-EF2708E37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476" y="316053"/>
            <a:ext cx="3429000" cy="1095375"/>
          </a:xfrm>
          <a:prstGeom prst="rect">
            <a:avLst/>
          </a:prstGeom>
        </p:spPr>
      </p:pic>
      <p:pic>
        <p:nvPicPr>
          <p:cNvPr id="23" name="Kép 22" descr="Backend - Free seo and web icons">
            <a:extLst>
              <a:ext uri="{FF2B5EF4-FFF2-40B4-BE49-F238E27FC236}">
                <a16:creationId xmlns:a16="http://schemas.microsoft.com/office/drawing/2014/main" id="{39A3B866-C5A5-B974-0B7B-70B9401FB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99" y="2461683"/>
            <a:ext cx="2731912" cy="27389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CBCBEE63-DBFE-6090-1CF9-9079CC911DFA}"/>
              </a:ext>
            </a:extLst>
          </p:cNvPr>
          <p:cNvSpPr/>
          <p:nvPr/>
        </p:nvSpPr>
        <p:spPr>
          <a:xfrm>
            <a:off x="457200" y="135716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5F3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Database design – relations</a:t>
            </a:r>
            <a:endParaRPr lang="en-US" sz="3200" dirty="0">
              <a:solidFill>
                <a:srgbClr val="F5F3FF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6D354516-2F41-5214-22F4-19F6E4327579}"/>
              </a:ext>
            </a:extLst>
          </p:cNvPr>
          <p:cNvSpPr/>
          <p:nvPr/>
        </p:nvSpPr>
        <p:spPr>
          <a:xfrm>
            <a:off x="457200" y="642486"/>
            <a:ext cx="5111898" cy="3962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Kép 3" descr="A képen szöveg, képernyőkép, szám, diagram látható&#10;&#10;Lehet, hogy az AI által létrehozott tartalom helytelen.">
            <a:extLst>
              <a:ext uri="{FF2B5EF4-FFF2-40B4-BE49-F238E27FC236}">
                <a16:creationId xmlns:a16="http://schemas.microsoft.com/office/drawing/2014/main" id="{F51D9EAC-CC6D-F15D-B7AD-81EB886A0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5" r="115" b="6508"/>
          <a:stretch>
            <a:fillRect/>
          </a:stretch>
        </p:blipFill>
        <p:spPr>
          <a:xfrm>
            <a:off x="1068311" y="872289"/>
            <a:ext cx="7167803" cy="415469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E1B4B"/>
                </a:solidFill>
                <a:latin typeface="Trebuchet MS"/>
              </a:rPr>
              <a:t>Responsive pages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296783" cy="5496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5" name="Kép 64" descr="A képen szöveg, számítógép, Emberi arc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DA3CDA5B-A85F-D79B-8115-68A7509AA5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52" r="297"/>
          <a:stretch>
            <a:fillRect/>
          </a:stretch>
        </p:blipFill>
        <p:spPr>
          <a:xfrm>
            <a:off x="1105112" y="1186257"/>
            <a:ext cx="1844184" cy="3659503"/>
          </a:xfrm>
          <a:prstGeom prst="rect">
            <a:avLst/>
          </a:prstGeom>
        </p:spPr>
      </p:pic>
      <p:pic>
        <p:nvPicPr>
          <p:cNvPr id="66" name="Kép 65" descr="A képen szöveg, Emberi arc, képernyőkép, Webhely látható&#10;&#10;Lehet, hogy az AI által létrehozott tartalom helytelen.">
            <a:extLst>
              <a:ext uri="{FF2B5EF4-FFF2-40B4-BE49-F238E27FC236}">
                <a16:creationId xmlns:a16="http://schemas.microsoft.com/office/drawing/2014/main" id="{5C42D9D1-08AC-1D99-6BFC-E5F056155C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704" r="-322" b="9185"/>
          <a:stretch>
            <a:fillRect/>
          </a:stretch>
        </p:blipFill>
        <p:spPr>
          <a:xfrm>
            <a:off x="3368252" y="1188156"/>
            <a:ext cx="2133200" cy="3657606"/>
          </a:xfrm>
          <a:prstGeom prst="rect">
            <a:avLst/>
          </a:prstGeom>
        </p:spPr>
      </p:pic>
      <p:pic>
        <p:nvPicPr>
          <p:cNvPr id="67" name="Kép 66" descr="A képen szöveg, képernyőkép, szoftver, Operációs rendszer látható&#10;&#10;Lehet, hogy az AI által létrehozott tartalom helytelen.">
            <a:extLst>
              <a:ext uri="{FF2B5EF4-FFF2-40B4-BE49-F238E27FC236}">
                <a16:creationId xmlns:a16="http://schemas.microsoft.com/office/drawing/2014/main" id="{DB9650C4-B2AC-151D-CED7-125D924E95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918" r="-322"/>
          <a:stretch>
            <a:fillRect/>
          </a:stretch>
        </p:blipFill>
        <p:spPr>
          <a:xfrm>
            <a:off x="5943812" y="1189680"/>
            <a:ext cx="1866500" cy="36560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C176F-C610-A864-2592-3DDA0AF7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E266EB-A9E0-626B-7DA4-9CB63B0AEBEE}"/>
              </a:ext>
            </a:extLst>
          </p:cNvPr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6EE863-E77D-1963-C41A-2195EE94AB9D}"/>
              </a:ext>
            </a:extLst>
          </p:cNvPr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20C38C-1556-8E50-D5AC-9A7AB6C6CAFC}"/>
              </a:ext>
            </a:extLst>
          </p:cNvPr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E1B4B"/>
                </a:solidFill>
                <a:latin typeface="Trebuchet MS"/>
              </a:rPr>
              <a:t>Email services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13B46A2-A1C8-DB48-808C-CEF12BAEB0CD}"/>
              </a:ext>
            </a:extLst>
          </p:cNvPr>
          <p:cNvSpPr/>
          <p:nvPr/>
        </p:nvSpPr>
        <p:spPr>
          <a:xfrm flipV="1">
            <a:off x="457200" y="786204"/>
            <a:ext cx="2555950" cy="367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F6BBB4-4508-84AE-C80D-43F05695EAA9}"/>
              </a:ext>
            </a:extLst>
          </p:cNvPr>
          <p:cNvSpPr/>
          <p:nvPr/>
        </p:nvSpPr>
        <p:spPr>
          <a:xfrm>
            <a:off x="457200" y="960120"/>
            <a:ext cx="33791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B7280"/>
                </a:solidFill>
                <a:ea typeface="Calibri"/>
                <a:cs typeface="Calibri"/>
              </a:rPr>
              <a:t>When you create an account, change: profile picture, password.. Etc... you get an email of it.</a:t>
            </a:r>
            <a:endParaRPr lang="hu-HU" dirty="0"/>
          </a:p>
        </p:txBody>
      </p:sp>
      <p:pic>
        <p:nvPicPr>
          <p:cNvPr id="7" name="Kép 6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93C9BF91-E016-A67A-B973-171444062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260" y="322385"/>
            <a:ext cx="3040808" cy="449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13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4B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640609" cy="4714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39776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Frontend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08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563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HTML / CSS</a:t>
            </a:r>
            <a:endParaRPr lang="en-US" sz="1400">
              <a:latin typeface="Century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Semantic structure, custom properties, responsive grid</a:t>
            </a:r>
            <a:endParaRPr lang="en-US" sz="1100" b="1">
              <a:latin typeface="Century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651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JavaScript</a:t>
            </a:r>
            <a:endParaRPr lang="en-US" sz="1400">
              <a:latin typeface="Century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1792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Dynamic auth, API calls, DOM manipulation</a:t>
            </a:r>
            <a:endParaRPr lang="en-US" sz="1100" b="1">
              <a:latin typeface="Century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3794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794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849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entury"/>
              </a:rPr>
              <a:t>Bootstrap</a:t>
            </a:r>
          </a:p>
        </p:txBody>
      </p:sp>
      <p:sp>
        <p:nvSpPr>
          <p:cNvPr id="20" name="Text 18"/>
          <p:cNvSpPr/>
          <p:nvPr/>
        </p:nvSpPr>
        <p:spPr>
          <a:xfrm>
            <a:off x="621792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6B7280"/>
                </a:solidFill>
                <a:latin typeface="Century"/>
              </a:rPr>
              <a:t>Responsibility, hamburger dropdown menus, mobile view.</a:t>
            </a:r>
          </a:p>
        </p:txBody>
      </p:sp>
      <p:sp>
        <p:nvSpPr>
          <p:cNvPr id="21" name="Shape 19"/>
          <p:cNvSpPr/>
          <p:nvPr/>
        </p:nvSpPr>
        <p:spPr>
          <a:xfrm>
            <a:off x="3291840" y="1005840"/>
            <a:ext cx="2743200" cy="39776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1005840"/>
            <a:ext cx="274320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Backend</a:t>
            </a:r>
            <a:endParaRPr lang="en-US" sz="1500"/>
          </a:p>
        </p:txBody>
      </p:sp>
      <p:sp>
        <p:nvSpPr>
          <p:cNvPr id="24" name="Shape 22"/>
          <p:cNvSpPr/>
          <p:nvPr/>
        </p:nvSpPr>
        <p:spPr>
          <a:xfrm>
            <a:off x="3429000" y="1508760"/>
            <a:ext cx="2468880" cy="1005840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1508760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1563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1B4B"/>
                </a:solidFill>
                <a:latin typeface="Century"/>
                <a:ea typeface="Calibri"/>
                <a:cs typeface="Calibri"/>
              </a:rPr>
              <a:t>Java</a:t>
            </a:r>
          </a:p>
        </p:txBody>
      </p:sp>
      <p:sp>
        <p:nvSpPr>
          <p:cNvPr id="27" name="Text 25"/>
          <p:cNvSpPr/>
          <p:nvPr/>
        </p:nvSpPr>
        <p:spPr>
          <a:xfrm>
            <a:off x="3547872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RESTful API, controllers for each entity</a:t>
            </a:r>
            <a:endParaRPr lang="en-US" sz="1100" b="1">
              <a:latin typeface="Century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429000" y="2651760"/>
            <a:ext cx="2468880" cy="1005840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2651760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JWT Authentication</a:t>
            </a:r>
            <a:endParaRPr lang="en-US" sz="1400">
              <a:latin typeface="Century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547872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Token-based auth with role-based access control</a:t>
            </a:r>
            <a:endParaRPr lang="en-US" sz="1100" b="1">
              <a:latin typeface="Century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429000" y="3794760"/>
            <a:ext cx="2468880" cy="1005840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9000" y="3794760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3849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File Upload API</a:t>
            </a:r>
            <a:endParaRPr lang="en-US" sz="1400">
              <a:latin typeface="Century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547872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Profile pictures, course headers, materials</a:t>
            </a:r>
            <a:endParaRPr lang="en-US" sz="1100" b="1">
              <a:latin typeface="Century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17920" y="1005840"/>
            <a:ext cx="2743200" cy="39776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100584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Database</a:t>
            </a:r>
            <a:endParaRPr lang="en-US" sz="1500"/>
          </a:p>
        </p:txBody>
      </p:sp>
      <p:sp>
        <p:nvSpPr>
          <p:cNvPr id="39" name="Shape 37"/>
          <p:cNvSpPr/>
          <p:nvPr/>
        </p:nvSpPr>
        <p:spPr>
          <a:xfrm>
            <a:off x="6355080" y="1508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1508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1563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MySQL</a:t>
            </a:r>
            <a:endParaRPr lang="en-US" sz="1400">
              <a:latin typeface="Century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473952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Relational database with foreign key constraints</a:t>
            </a:r>
            <a:endParaRPr lang="en-US" sz="1100" b="1">
              <a:latin typeface="Century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355080" y="2651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2651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Stored Procedures</a:t>
            </a:r>
            <a:endParaRPr lang="en-US" sz="1400">
              <a:latin typeface="Century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473952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6B7280"/>
                </a:solidFill>
                <a:latin typeface="Century"/>
              </a:rPr>
              <a:t>Stored procedures for CRUD</a:t>
            </a:r>
            <a:endParaRPr lang="en-US" sz="1100" b="1">
              <a:solidFill>
                <a:srgbClr val="000000"/>
              </a:solidFill>
              <a:latin typeface="Century"/>
            </a:endParaRPr>
          </a:p>
          <a:p>
            <a:r>
              <a:rPr lang="en-US" sz="1100" b="1" dirty="0">
                <a:solidFill>
                  <a:srgbClr val="6B7280"/>
                </a:solidFill>
                <a:latin typeface="Century"/>
              </a:rPr>
              <a:t>all business logic in DB</a:t>
            </a:r>
            <a:endParaRPr lang="en-US" sz="1100" b="1">
              <a:latin typeface="Century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355080" y="3794760"/>
            <a:ext cx="2468880" cy="100584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3794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3849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1B4B"/>
                </a:solidFill>
                <a:latin typeface="Century"/>
              </a:rPr>
              <a:t>phpMyAdmin</a:t>
            </a:r>
            <a:endParaRPr lang="en-US" sz="1400">
              <a:latin typeface="Century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473952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entury"/>
              </a:rPr>
              <a:t>Database management and administration interface</a:t>
            </a:r>
            <a:endParaRPr lang="en-US" sz="1100" b="1">
              <a:latin typeface="Centur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Why we built </a:t>
            </a:r>
            <a:r>
              <a:rPr lang="en-US" sz="3600" b="1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SkillBook</a:t>
            </a:r>
            <a:endParaRPr lang="en-US" sz="3600" err="1">
              <a:latin typeface="Trebuchet M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4937760" cy="396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9560" y="109728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9560" y="118872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🎯</a:t>
            </a:r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1066800" y="12070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D5FF"/>
                </a:solidFill>
              </a:rPr>
              <a:t>Real-World Need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1066800" y="160934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Many small schools and training centers still manage enrollments through phone calls, emails, or paper forms. SkillBook digitalizes this entirely.</a:t>
            </a:r>
            <a:endParaRPr lang="en-US" sz="1200">
              <a:latin typeface="Century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9560" y="288036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560" y="297180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🏗️</a:t>
            </a:r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1066800" y="29900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D5FF"/>
                </a:solidFill>
              </a:rPr>
              <a:t>Full-Stack Challenge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1066800" y="339242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We wanted to build something that exercises every layer: database design, REST API, authentication, file handling, and a polished frontend UI.</a:t>
            </a:r>
            <a:endParaRPr lang="en-US" sz="1200">
              <a:latin typeface="Century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78680" y="109728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8680" y="118872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🌍</a:t>
            </a:r>
            <a:endParaRPr lang="en-US" sz="3200"/>
          </a:p>
        </p:txBody>
      </p:sp>
      <p:sp>
        <p:nvSpPr>
          <p:cNvPr id="16" name="Text 14"/>
          <p:cNvSpPr/>
          <p:nvPr/>
        </p:nvSpPr>
        <p:spPr>
          <a:xfrm>
            <a:off x="5455920" y="12070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D5FF"/>
                </a:solidFill>
              </a:rPr>
              <a:t>Accessible Education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5455920" y="160934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4B5FD"/>
                </a:solidFill>
                <a:latin typeface="Century"/>
              </a:rPr>
              <a:t>Affordable access to quality learning should not be a privilege. Our platform makes finding and joining courses simple for everyone.</a:t>
            </a:r>
            <a:endParaRPr lang="en-US" sz="1200">
              <a:latin typeface="Century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8680" y="288036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8680" y="297180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💡</a:t>
            </a:r>
            <a:endParaRPr lang="en-US" sz="3200"/>
          </a:p>
        </p:txBody>
      </p:sp>
      <p:sp>
        <p:nvSpPr>
          <p:cNvPr id="20" name="Text 18"/>
          <p:cNvSpPr/>
          <p:nvPr/>
        </p:nvSpPr>
        <p:spPr>
          <a:xfrm>
            <a:off x="5455920" y="29900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9D5FF"/>
                </a:solidFill>
              </a:rPr>
              <a:t>Portfolio Quality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5455920" y="339242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4B5FD"/>
                </a:solidFill>
                <a:latin typeface="Century"/>
              </a:rPr>
              <a:t>A functional booking + LMS system demonstrates skills beyond a typical CRUD app. Including roles, sessions, and real-time features.</a:t>
            </a:r>
            <a:endParaRPr lang="en-US" sz="1200" dirty="0">
              <a:latin typeface="Centur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6AC12E-E9DB-29B3-9407-551B543B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BF13EE-F4D9-A48F-4244-B6E2EE749928}"/>
              </a:ext>
            </a:extLst>
          </p:cNvPr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78631D-21EA-027F-F777-AE4C1ECBB615}"/>
              </a:ext>
            </a:extLst>
          </p:cNvPr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8DBE47-6487-BE24-6738-5BFBF14FE5A5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Trebuchet MS"/>
              </a:rPr>
              <a:t>Future plans</a:t>
            </a:r>
            <a:endParaRPr lang="hu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706112-07EB-7C6B-9FBD-BE491B765A06}"/>
              </a:ext>
            </a:extLst>
          </p:cNvPr>
          <p:cNvSpPr/>
          <p:nvPr/>
        </p:nvSpPr>
        <p:spPr>
          <a:xfrm flipV="1">
            <a:off x="457200" y="833917"/>
            <a:ext cx="2744436" cy="53051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00A60C-1A53-8D59-0E25-13711E86BE26}"/>
              </a:ext>
            </a:extLst>
          </p:cNvPr>
          <p:cNvSpPr/>
          <p:nvPr/>
        </p:nvSpPr>
        <p:spPr>
          <a:xfrm>
            <a:off x="2405037" y="109728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43CEEB-8FDD-681A-CE7D-D46C48A1791D}"/>
              </a:ext>
            </a:extLst>
          </p:cNvPr>
          <p:cNvSpPr/>
          <p:nvPr/>
        </p:nvSpPr>
        <p:spPr>
          <a:xfrm>
            <a:off x="2718899" y="1322853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9D5FF"/>
                </a:solidFill>
                <a:ea typeface="+mn-lt"/>
                <a:cs typeface="+mn-lt"/>
              </a:rPr>
              <a:t>❓</a:t>
            </a:r>
            <a:r>
              <a:rPr lang="en-US" sz="1500" dirty="0">
                <a:solidFill>
                  <a:srgbClr val="E9D5FF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500" b="1" dirty="0">
                <a:solidFill>
                  <a:srgbClr val="E9D5FF"/>
                </a:solidFill>
                <a:latin typeface="Calibri"/>
                <a:ea typeface="Calibri"/>
                <a:cs typeface="Calibri"/>
              </a:rPr>
              <a:t>Quiz system</a:t>
            </a:r>
            <a:endParaRPr lang="en-US" sz="1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209FD9-E9AD-6C46-FA32-4DEF549BB639}"/>
              </a:ext>
            </a:extLst>
          </p:cNvPr>
          <p:cNvSpPr/>
          <p:nvPr/>
        </p:nvSpPr>
        <p:spPr>
          <a:xfrm>
            <a:off x="2718899" y="1725189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4B5FD"/>
                </a:solidFill>
                <a:ea typeface="+mn-lt"/>
                <a:cs typeface="+mn-lt"/>
              </a:rPr>
              <a:t>In the future, we would like to have quiz system integrated into the site </a:t>
            </a:r>
            <a:r>
              <a:rPr lang="en-US" sz="1200" dirty="0" err="1">
                <a:solidFill>
                  <a:srgbClr val="C4B5FD"/>
                </a:solidFill>
                <a:ea typeface="+mn-lt"/>
                <a:cs typeface="+mn-lt"/>
              </a:rPr>
              <a:t>fot</a:t>
            </a:r>
            <a:r>
              <a:rPr lang="en-US" sz="1200" dirty="0">
                <a:solidFill>
                  <a:srgbClr val="C4B5FD"/>
                </a:solidFill>
                <a:ea typeface="+mn-lt"/>
                <a:cs typeface="+mn-lt"/>
              </a:rPr>
              <a:t> the teachers.</a:t>
            </a:r>
            <a:endParaRPr lang="hu-HU" dirty="0">
              <a:ea typeface="+mn-lt"/>
              <a:cs typeface="+mn-lt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5A115CB-24F4-9F61-6E14-3E416555880B}"/>
              </a:ext>
            </a:extLst>
          </p:cNvPr>
          <p:cNvSpPr/>
          <p:nvPr/>
        </p:nvSpPr>
        <p:spPr>
          <a:xfrm>
            <a:off x="2405037" y="2880360"/>
            <a:ext cx="4114800" cy="1645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C0BE49A-F146-1055-E774-08A6A22F7DC3}"/>
              </a:ext>
            </a:extLst>
          </p:cNvPr>
          <p:cNvSpPr/>
          <p:nvPr/>
        </p:nvSpPr>
        <p:spPr>
          <a:xfrm>
            <a:off x="2718898" y="309821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E9D5FF"/>
                </a:solidFill>
                <a:ea typeface="+mn-lt"/>
                <a:cs typeface="+mn-lt"/>
              </a:rPr>
              <a:t>🎓</a:t>
            </a:r>
            <a:r>
              <a:rPr lang="en-US" sz="1500">
                <a:solidFill>
                  <a:srgbClr val="E9D5FF"/>
                </a:solidFill>
              </a:rPr>
              <a:t>  </a:t>
            </a:r>
            <a:r>
              <a:rPr lang="en-US" sz="1500" b="1">
                <a:solidFill>
                  <a:srgbClr val="E9D5FF"/>
                </a:solidFill>
              </a:rPr>
              <a:t>Teacher qualifications</a:t>
            </a:r>
            <a:endParaRPr lang="hu-HU">
              <a:ea typeface="Calibri"/>
              <a:cs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2F4A068-018D-3B70-8B46-9A46E3C9AAC6}"/>
              </a:ext>
            </a:extLst>
          </p:cNvPr>
          <p:cNvSpPr/>
          <p:nvPr/>
        </p:nvSpPr>
        <p:spPr>
          <a:xfrm>
            <a:off x="2757513" y="34851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C4B5FD"/>
                </a:solidFill>
                <a:latin typeface="Century"/>
                <a:ea typeface="+mn-lt"/>
                <a:cs typeface="+mn-lt"/>
              </a:rPr>
              <a:t>It would be nice if the teacher could only create a course if they had the necessary qualifications.</a:t>
            </a:r>
            <a:endParaRPr lang="hu-HU">
              <a:latin typeface="Century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4599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07E69-C345-C5DC-F3FF-43C85885F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AAF53A-AF67-8337-A787-C75A8678EBC5}"/>
              </a:ext>
            </a:extLst>
          </p:cNvPr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16E5D2-60DB-4517-70EA-8548E047DC54}"/>
              </a:ext>
            </a:extLst>
          </p:cNvPr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0F0B90-3C6D-7E2B-6C7C-898752E2636E}"/>
              </a:ext>
            </a:extLst>
          </p:cNvPr>
          <p:cNvSpPr/>
          <p:nvPr/>
        </p:nvSpPr>
        <p:spPr>
          <a:xfrm>
            <a:off x="549876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E1B4B"/>
                </a:solidFill>
                <a:latin typeface="Trebuchet MS"/>
              </a:rPr>
              <a:t>Jira work hours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900234E-4152-600C-C66A-D2615AB429AE}"/>
              </a:ext>
            </a:extLst>
          </p:cNvPr>
          <p:cNvSpPr/>
          <p:nvPr/>
        </p:nvSpPr>
        <p:spPr>
          <a:xfrm>
            <a:off x="549876" y="818078"/>
            <a:ext cx="3315824" cy="4714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904BE7A0-2CCC-6FC2-47CD-61A6620E49F8}"/>
              </a:ext>
            </a:extLst>
          </p:cNvPr>
          <p:cNvSpPr txBox="1"/>
          <p:nvPr/>
        </p:nvSpPr>
        <p:spPr>
          <a:xfrm>
            <a:off x="460868" y="931475"/>
            <a:ext cx="4572000" cy="569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i="1" dirty="0">
                <a:solidFill>
                  <a:srgbClr val="6B7280"/>
                </a:solidFill>
                <a:latin typeface="Calibri"/>
              </a:rPr>
              <a:t>We used </a:t>
            </a:r>
            <a:r>
              <a:rPr lang="en-US" sz="1300" i="1" dirty="0" err="1">
                <a:solidFill>
                  <a:srgbClr val="6B7280"/>
                </a:solidFill>
                <a:latin typeface="Calibri"/>
              </a:rPr>
              <a:t>jira</a:t>
            </a:r>
            <a:r>
              <a:rPr lang="en-US" sz="1300" i="1" dirty="0">
                <a:solidFill>
                  <a:srgbClr val="6B7280"/>
                </a:solidFill>
                <a:latin typeface="Calibri"/>
              </a:rPr>
              <a:t> for project management.</a:t>
            </a:r>
            <a:endParaRPr lang="hu-HU" dirty="0"/>
          </a:p>
          <a:p>
            <a:pPr algn="ctr"/>
            <a:endParaRPr lang="hu-HU"/>
          </a:p>
        </p:txBody>
      </p:sp>
      <p:pic>
        <p:nvPicPr>
          <p:cNvPr id="8" name="Kép 7" descr="A képen szöveg, képernyőkép, diagram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FAB281F5-2610-E926-31EE-EEA23B3580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5" r="-139" b="12029"/>
          <a:stretch>
            <a:fillRect/>
          </a:stretch>
        </p:blipFill>
        <p:spPr>
          <a:xfrm>
            <a:off x="1757767" y="1217267"/>
            <a:ext cx="5106367" cy="3454355"/>
          </a:xfrm>
          <a:prstGeom prst="rect">
            <a:avLst/>
          </a:prstGeom>
        </p:spPr>
      </p:pic>
      <p:pic>
        <p:nvPicPr>
          <p:cNvPr id="9" name="Kép 8" descr="A képen szöveg, Betűtípus, képernyőkép, sor látható&#10;&#10;Lehet, hogy az AI által létrehozott tartalom helytelen.">
            <a:extLst>
              <a:ext uri="{FF2B5EF4-FFF2-40B4-BE49-F238E27FC236}">
                <a16:creationId xmlns:a16="http://schemas.microsoft.com/office/drawing/2014/main" id="{96099EA1-C006-08DB-FA05-05D72FDD1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4331018"/>
            <a:ext cx="784860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06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53589-7594-33F6-B466-4D7B05D21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29D627-F8C0-031A-76B9-A5457D9C2CD0}"/>
              </a:ext>
            </a:extLst>
          </p:cNvPr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ADA5BC-E197-DF73-0C94-FD6AE411A111}"/>
              </a:ext>
            </a:extLst>
          </p:cNvPr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E67B93-C21C-9736-6C26-CE560097E31D}"/>
              </a:ext>
            </a:extLst>
          </p:cNvPr>
          <p:cNvSpPr/>
          <p:nvPr/>
        </p:nvSpPr>
        <p:spPr>
          <a:xfrm>
            <a:off x="549876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E1B4B"/>
                </a:solidFill>
                <a:latin typeface="Trebuchet MS"/>
              </a:rPr>
              <a:t>Github</a:t>
            </a:r>
            <a:endParaRPr lang="hu-HU" dirty="0" err="1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1E760D3-BF04-5934-25F8-53F56BB60586}"/>
              </a:ext>
            </a:extLst>
          </p:cNvPr>
          <p:cNvSpPr/>
          <p:nvPr/>
        </p:nvSpPr>
        <p:spPr>
          <a:xfrm flipV="1">
            <a:off x="549876" y="766159"/>
            <a:ext cx="1380344" cy="5191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Kép 5" descr="A képen szöveg, képernyőkép, szoftver, Számítógépes ikon látható&#10;&#10;Lehet, hogy az AI által létrehozott tartalom helytelen.">
            <a:extLst>
              <a:ext uri="{FF2B5EF4-FFF2-40B4-BE49-F238E27FC236}">
                <a16:creationId xmlns:a16="http://schemas.microsoft.com/office/drawing/2014/main" id="{784D435A-5F72-0C10-3284-89CD23817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85936"/>
            <a:ext cx="8686800" cy="360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03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74C1C-759D-33E0-751A-C69CDE409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7604BE-1B5C-98E1-E320-A3E41D6F94FF}"/>
              </a:ext>
            </a:extLst>
          </p:cNvPr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3F1996-CB26-7A43-85A6-C84C7D2631CF}"/>
              </a:ext>
            </a:extLst>
          </p:cNvPr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D9ED58-6072-E89B-3098-DD892A6D1A6C}"/>
              </a:ext>
            </a:extLst>
          </p:cNvPr>
          <p:cNvSpPr/>
          <p:nvPr/>
        </p:nvSpPr>
        <p:spPr>
          <a:xfrm>
            <a:off x="549876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E1B4B"/>
                </a:solidFill>
                <a:latin typeface="Trebuchet MS"/>
              </a:rPr>
              <a:t>Some tests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430D69A-90EF-1E63-EFAD-5EF94E9F9067}"/>
              </a:ext>
            </a:extLst>
          </p:cNvPr>
          <p:cNvSpPr/>
          <p:nvPr/>
        </p:nvSpPr>
        <p:spPr>
          <a:xfrm flipV="1">
            <a:off x="549876" y="773497"/>
            <a:ext cx="2292770" cy="4458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Kép 5" descr="A képen szöveg, képernyőkép, szám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AA63379-E5C4-BCB1-0D78-B3E275781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62" y="865494"/>
            <a:ext cx="8276167" cy="2198958"/>
          </a:xfrm>
          <a:prstGeom prst="rect">
            <a:avLst/>
          </a:prstGeom>
        </p:spPr>
      </p:pic>
      <p:pic>
        <p:nvPicPr>
          <p:cNvPr id="7" name="Kép 6" descr="A képen szöveg, képernyőkép, szám, Párhuzamos látható&#10;&#10;Lehet, hogy az AI által létrehozott tartalom helytelen.">
            <a:extLst>
              <a:ext uri="{FF2B5EF4-FFF2-40B4-BE49-F238E27FC236}">
                <a16:creationId xmlns:a16="http://schemas.microsoft.com/office/drawing/2014/main" id="{5CEE42CD-E37D-2B0B-3CE1-B80AE8234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857" y="3141004"/>
            <a:ext cx="7450667" cy="191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72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C4B5FD"/>
                </a:solidFill>
              </a:rPr>
              <a:t>📚 SkillBook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dirty="0">
                <a:solidFill>
                  <a:srgbClr val="FFFFFF"/>
                </a:solidFill>
                <a:latin typeface="Trebuchet MS"/>
              </a:rPr>
              <a:t>Try </a:t>
            </a:r>
            <a:r>
              <a:rPr lang="en-US" sz="6000" b="1" dirty="0" err="1">
                <a:solidFill>
                  <a:srgbClr val="FFFFFF"/>
                </a:solidFill>
                <a:latin typeface="Trebuchet MS"/>
              </a:rPr>
              <a:t>SkillBook</a:t>
            </a:r>
            <a:endParaRPr lang="en-US" sz="6000" dirty="0" err="1">
              <a:latin typeface="Trebuchet M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92680" y="1866900"/>
            <a:ext cx="4450080" cy="624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78BFA"/>
                </a:solidFill>
                <a:latin typeface="Century"/>
              </a:rPr>
              <a:t>We built </a:t>
            </a:r>
            <a:r>
              <a:rPr lang="en-US" sz="1500" i="1" dirty="0" err="1">
                <a:solidFill>
                  <a:srgbClr val="A78BFA"/>
                </a:solidFill>
                <a:latin typeface="Century"/>
              </a:rPr>
              <a:t>SkillBook</a:t>
            </a:r>
            <a:r>
              <a:rPr lang="en-US" sz="1500" i="1" dirty="0">
                <a:solidFill>
                  <a:srgbClr val="A78BFA"/>
                </a:solidFill>
                <a:latin typeface="Century"/>
              </a:rPr>
              <a:t> to prove that modern, scalable,</a:t>
            </a:r>
            <a:endParaRPr lang="en-US" sz="1500" dirty="0">
              <a:latin typeface="Century"/>
            </a:endParaRPr>
          </a:p>
          <a:p>
            <a:pPr algn="ctr"/>
            <a:r>
              <a:rPr lang="en-US" sz="1500" i="1" dirty="0">
                <a:solidFill>
                  <a:srgbClr val="A78BFA"/>
                </a:solidFill>
                <a:latin typeface="Century"/>
              </a:rPr>
              <a:t>and user friendly education platforms are achievable</a:t>
            </a:r>
            <a:endParaRPr lang="en-US" sz="1500" dirty="0">
              <a:latin typeface="Century"/>
            </a:endParaRPr>
          </a:p>
          <a:p>
            <a:pPr marL="0" indent="0" algn="ctr">
              <a:buNone/>
            </a:pPr>
            <a:r>
              <a:rPr lang="en-US" sz="1500" i="1" dirty="0">
                <a:solidFill>
                  <a:srgbClr val="A78BFA"/>
                </a:solidFill>
                <a:latin typeface="Century"/>
              </a:rPr>
              <a:t>with the right architecture and design.</a:t>
            </a:r>
            <a:endParaRPr lang="en-US" sz="1500" dirty="0">
              <a:latin typeface="Century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411480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1089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9D5FF"/>
                </a:solidFill>
              </a:rPr>
              <a:t>✅ Problem solved:  Unified learning, enrollment &amp; communication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754880" y="3108960"/>
            <a:ext cx="411480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31089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E9D5FF"/>
                </a:solidFill>
              </a:rPr>
              <a:t>🏗️ Tech used:  HTML · JS · JAVA · MySQL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411480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947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E9D5FF"/>
                </a:solidFill>
              </a:rPr>
              <a:t>📊 Database:  11 tables · 66 stored procedures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754880" y="3794760"/>
            <a:ext cx="411480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7947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E9D5FF"/>
                </a:solidFill>
              </a:rPr>
              <a:t>👥 Users supported: students · Teacher · Admins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Diavetítés a képernyőre (16:9 oldalarány)</PresentationFormat>
  <Slides>20</Slides>
  <Notes>19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1" baseType="lpstr"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SkillBook - Interactive Learning Platform</dc:title>
  <dc:subject>PptxGenJS Presentation</dc:subject>
  <dc:creator>PptxGenJS</dc:creator>
  <cp:revision>306</cp:revision>
  <dcterms:created xsi:type="dcterms:W3CDTF">2026-02-18T06:43:07Z</dcterms:created>
  <dcterms:modified xsi:type="dcterms:W3CDTF">2026-02-27T10:17:30Z</dcterms:modified>
</cp:coreProperties>
</file>