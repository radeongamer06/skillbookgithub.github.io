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72" r:id="rId5"/>
    <p:sldId id="270" r:id="rId6"/>
    <p:sldId id="258" r:id="rId7"/>
    <p:sldId id="271" r:id="rId8"/>
    <p:sldId id="260" r:id="rId9"/>
    <p:sldId id="261" r:id="rId10"/>
    <p:sldId id="274" r:id="rId11"/>
    <p:sldId id="263" r:id="rId12"/>
    <p:sldId id="264" r:id="rId13"/>
    <p:sldId id="265" r:id="rId14"/>
    <p:sldId id="266" r:id="rId15"/>
    <p:sldId id="267" r:id="rId16"/>
    <p:sldId id="273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B4B"/>
    <a:srgbClr val="F5F3FF"/>
    <a:srgbClr val="DDCEFB"/>
    <a:srgbClr val="7C3AED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7DA29-CD73-4E81-B0FC-85BBD8B47BA7}" v="279" dt="2026-02-18T10:43:25.480"/>
    <p1510:client id="{4BD6BF2B-33BF-40FF-A2ED-14EA1266253A}" v="49" dt="2026-02-20T09:21:51.566"/>
    <p1510:client id="{556DD345-8470-472E-8B78-0DADA3CAF9C2}" v="25" dt="2026-02-20T09:08:53.532"/>
    <p1510:client id="{6B739E09-2F43-47C4-86EC-1E06053FC323}" v="380" dt="2026-02-18T10:14:59.168"/>
    <p1510:client id="{76A6A8F4-9EA9-4945-9F01-45CF8C983A01}" v="22" dt="2026-02-18T12:25:29.530"/>
    <p1510:client id="{8DD6C664-B9AB-4656-8261-C6B55F707965}" v="1110" dt="2026-02-18T09:44:16.894"/>
    <p1510:client id="{AF0A75A9-B2E5-466E-8482-677185239A9E}" v="384" dt="2026-02-18T11:51:24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F700-5703-465D-8D09-CC2ABD29907A}" type="datetimeFigureOut">
              <a:t>2026. 02. 20.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F151-3A39-46FD-86BD-19670BCDF24E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115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err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13D8-7611-3D13-DC4F-399DD767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FB8A-9E5F-819F-ED7D-E7F30FE3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2921-9644-329A-79C9-7C81024A2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488A4-A30A-9F68-D0C2-102878624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4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D2FD-BDFA-072C-F9EC-59624B28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5B890-FE7F-1AE3-794C-4AF6FC66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CF9F7-D64E-1F3D-1DF1-B4391416C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6C8D-921F-B0E1-2331-B60EFF4F6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433A-38C1-2CD6-B6C4-ED3AA549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31BCE-8427-1F8F-A645-D8B7F632E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33978-9F79-ECFD-27DB-C0718F93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EEE5B-C70A-A483-B236-1CD9942A5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3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98954" y="2905382"/>
            <a:ext cx="3657600" cy="3657600"/>
          </a:xfrm>
          <a:prstGeom prst="ellipse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9D5FF"/>
                </a:solidFill>
                <a:latin typeface="Trebuchet MS"/>
                <a:ea typeface="Calibri"/>
                <a:cs typeface="Calibri"/>
              </a:rPr>
              <a:t>📚</a:t>
            </a:r>
            <a:r>
              <a:rPr lang="en-US" sz="72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7200" dirty="0" err="1">
              <a:latin typeface="Trebuchet MS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3099" y="2240896"/>
            <a:ext cx="4877830" cy="65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>
                <a:solidFill>
                  <a:srgbClr val="C4B5FD"/>
                </a:solidFill>
                <a:latin typeface="Century"/>
                <a:ea typeface="Trebuchet MS" pitchFamily="34" charset="-122"/>
                <a:cs typeface="Trebuchet MS" pitchFamily="34" charset="-120"/>
              </a:rPr>
              <a:t>Interactive learning &amp; booking platform</a:t>
            </a:r>
            <a:endParaRPr lang="en-US" sz="2600" i="1">
              <a:latin typeface="Century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3698" y="3473443"/>
            <a:ext cx="3327879" cy="115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Buzási Regina</a:t>
            </a:r>
            <a:endParaRPr lang="en-US" i="1">
              <a:ea typeface="Calibri"/>
              <a:cs typeface="Calibri"/>
            </a:endParaRPr>
          </a:p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Bagoly Donát</a:t>
            </a:r>
          </a:p>
          <a:p>
            <a:r>
              <a:rPr lang="en-US" i="1" err="1">
                <a:solidFill>
                  <a:srgbClr val="C4B5FD"/>
                </a:solidFill>
                <a:ea typeface="Calibri"/>
                <a:cs typeface="Calibri"/>
              </a:rPr>
              <a:t>Pettermann</a:t>
            </a:r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 Shaun Pharrell</a:t>
            </a:r>
          </a:p>
        </p:txBody>
      </p:sp>
      <p:sp>
        <p:nvSpPr>
          <p:cNvPr id="22" name="Text 20"/>
          <p:cNvSpPr/>
          <p:nvPr/>
        </p:nvSpPr>
        <p:spPr>
          <a:xfrm>
            <a:off x="190500" y="4808220"/>
            <a:ext cx="9022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</a:rPr>
              <a:t>2026 | Team </a:t>
            </a:r>
            <a:r>
              <a:rPr lang="en-US" sz="1000" err="1">
                <a:solidFill>
                  <a:schemeClr val="bg1"/>
                </a:solidFill>
              </a:rPr>
              <a:t>SkillBook</a:t>
            </a:r>
            <a:r>
              <a:rPr lang="en-US" sz="1000">
                <a:solidFill>
                  <a:schemeClr val="bg1"/>
                </a:solidFill>
              </a:rPr>
              <a:t>                                                                                       </a:t>
            </a:r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                       https://github.com/RadeonGamer06/skillbookgithub.github.io/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F84B2ED1-73A4-6641-13E5-0C3AFDCADAEE}"/>
              </a:ext>
            </a:extLst>
          </p:cNvPr>
          <p:cNvSpPr txBox="1"/>
          <p:nvPr/>
        </p:nvSpPr>
        <p:spPr>
          <a:xfrm>
            <a:off x="278027" y="3135527"/>
            <a:ext cx="142875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solidFill>
                  <a:srgbClr val="C4B5FD"/>
                </a:solidFill>
                <a:latin typeface="Calibri"/>
              </a:rPr>
              <a:t>   Made by: </a:t>
            </a:r>
            <a:endParaRPr lang="hu-HU"/>
          </a:p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</a:rPr>
              <a:t>Teamwork</a:t>
            </a:r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57200" y="789432"/>
            <a:ext cx="2263140" cy="472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980" y="110490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</a:rPr>
              <a:t>Frontend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1980" y="1615440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err="1">
                <a:solidFill>
                  <a:srgbClr val="6B7280"/>
                </a:solidFill>
              </a:rPr>
              <a:t>Pettermann</a:t>
            </a:r>
            <a:r>
              <a:rPr lang="en-US" sz="1050" b="1">
                <a:solidFill>
                  <a:srgbClr val="6B7280"/>
                </a:solidFill>
              </a:rPr>
              <a:t> Shaun Pharrell</a:t>
            </a:r>
            <a:endParaRPr lang="en-US" sz="1050" b="1" err="1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BDBF001E-9EB0-E13B-E64C-4A5C46AC58AD}"/>
              </a:ext>
            </a:extLst>
          </p:cNvPr>
          <p:cNvSpPr/>
          <p:nvPr/>
        </p:nvSpPr>
        <p:spPr>
          <a:xfrm>
            <a:off x="464820" y="23545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329147E0-07B9-DB7F-31CA-2D4C568A20FB}"/>
              </a:ext>
            </a:extLst>
          </p:cNvPr>
          <p:cNvSpPr/>
          <p:nvPr/>
        </p:nvSpPr>
        <p:spPr>
          <a:xfrm>
            <a:off x="464820" y="23545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588A16A-605C-E623-212A-6CCB1AE4C9CD}"/>
              </a:ext>
            </a:extLst>
          </p:cNvPr>
          <p:cNvSpPr/>
          <p:nvPr/>
        </p:nvSpPr>
        <p:spPr>
          <a:xfrm>
            <a:off x="609600" y="235458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5F3FF"/>
                </a:solidFill>
              </a:rPr>
              <a:t>Backend, Project manager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CE0F68A-AAF7-33D5-D6B0-D5DF5114753E}"/>
              </a:ext>
            </a:extLst>
          </p:cNvPr>
          <p:cNvSpPr/>
          <p:nvPr/>
        </p:nvSpPr>
        <p:spPr>
          <a:xfrm>
            <a:off x="609600" y="287273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  <a:ea typeface="Calibri"/>
                <a:cs typeface="Calibri"/>
              </a:rPr>
              <a:t>Bagoly Donát</a:t>
            </a: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7B6965BA-7594-7190-2F54-9D66BDF5E5DF}"/>
              </a:ext>
            </a:extLst>
          </p:cNvPr>
          <p:cNvSpPr/>
          <p:nvPr/>
        </p:nvSpPr>
        <p:spPr>
          <a:xfrm>
            <a:off x="472440" y="366522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5A2A0C59-C8FC-62C3-9D16-018375BA8A94}"/>
              </a:ext>
            </a:extLst>
          </p:cNvPr>
          <p:cNvSpPr/>
          <p:nvPr/>
        </p:nvSpPr>
        <p:spPr>
          <a:xfrm>
            <a:off x="472440" y="366522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FDBF65DB-619D-3D13-FC0D-D3A0134FB8A3}"/>
              </a:ext>
            </a:extLst>
          </p:cNvPr>
          <p:cNvSpPr/>
          <p:nvPr/>
        </p:nvSpPr>
        <p:spPr>
          <a:xfrm>
            <a:off x="617220" y="367284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  <a:ea typeface="Calibri"/>
                <a:cs typeface="Calibri"/>
              </a:rPr>
              <a:t>Database</a:t>
            </a:r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029A1110-DDAD-18AE-8A32-1CF4E2EB3659}"/>
              </a:ext>
            </a:extLst>
          </p:cNvPr>
          <p:cNvSpPr/>
          <p:nvPr/>
        </p:nvSpPr>
        <p:spPr>
          <a:xfrm>
            <a:off x="617220" y="418337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</a:rPr>
              <a:t>Buzási Regina</a:t>
            </a:r>
            <a:endParaRPr lang="hu-HU"/>
          </a:p>
        </p:txBody>
      </p:sp>
      <p:pic>
        <p:nvPicPr>
          <p:cNvPr id="54" name="Kép 53" descr="Resources for Beginners Front-end Developers">
            <a:extLst>
              <a:ext uri="{FF2B5EF4-FFF2-40B4-BE49-F238E27FC236}">
                <a16:creationId xmlns:a16="http://schemas.microsoft.com/office/drawing/2014/main" id="{EDF0E0F2-12B7-B8EA-5FF1-2E35C925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348" y="827755"/>
            <a:ext cx="2506980" cy="1318260"/>
          </a:xfrm>
          <a:prstGeom prst="rect">
            <a:avLst/>
          </a:prstGeom>
        </p:spPr>
      </p:pic>
      <p:pic>
        <p:nvPicPr>
          <p:cNvPr id="55" name="Kép 54" descr="Backend Development | Software Development | Neunen IT Consulting">
            <a:extLst>
              <a:ext uri="{FF2B5EF4-FFF2-40B4-BE49-F238E27FC236}">
                <a16:creationId xmlns:a16="http://schemas.microsoft.com/office/drawing/2014/main" id="{00790674-2014-6585-50CD-D928DCBEE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028" y="2312152"/>
            <a:ext cx="830580" cy="830580"/>
          </a:xfrm>
          <a:prstGeom prst="rect">
            <a:avLst/>
          </a:prstGeom>
        </p:spPr>
      </p:pic>
      <p:pic>
        <p:nvPicPr>
          <p:cNvPr id="56" name="Kép 55" descr="Java custom software development">
            <a:extLst>
              <a:ext uri="{FF2B5EF4-FFF2-40B4-BE49-F238E27FC236}">
                <a16:creationId xmlns:a16="http://schemas.microsoft.com/office/drawing/2014/main" id="{C0DBB3D7-6BA1-A1FF-17A2-064ABC830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278" y="2403554"/>
            <a:ext cx="1268773" cy="714996"/>
          </a:xfrm>
          <a:prstGeom prst="rect">
            <a:avLst/>
          </a:prstGeom>
        </p:spPr>
      </p:pic>
      <p:pic>
        <p:nvPicPr>
          <p:cNvPr id="57" name="Ábra 56" descr="File:PhpMyAdmin logo.svg - Wikimedia Commons">
            <a:extLst>
              <a:ext uri="{FF2B5EF4-FFF2-40B4-BE49-F238E27FC236}">
                <a16:creationId xmlns:a16="http://schemas.microsoft.com/office/drawing/2014/main" id="{19468D5F-A864-7469-A2CF-E472297A6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6380" y="3744941"/>
            <a:ext cx="1324081" cy="719768"/>
          </a:xfrm>
          <a:prstGeom prst="rect">
            <a:avLst/>
          </a:prstGeom>
        </p:spPr>
      </p:pic>
      <p:pic>
        <p:nvPicPr>
          <p:cNvPr id="58" name="Kép 57" descr="Download MySQL Logo in SVG Vector or PNG File Format - Logo.wine">
            <a:extLst>
              <a:ext uri="{FF2B5EF4-FFF2-40B4-BE49-F238E27FC236}">
                <a16:creationId xmlns:a16="http://schemas.microsoft.com/office/drawing/2014/main" id="{F7E52A3C-8D4E-FBA3-82ED-FBB734574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935" y="3808503"/>
            <a:ext cx="1317662" cy="820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F5F3FF"/>
                </a:solidFill>
              </a:rPr>
              <a:t>Pettermann</a:t>
            </a:r>
            <a:r>
              <a:rPr lang="en-US" b="1">
                <a:solidFill>
                  <a:srgbClr val="F5F3FF"/>
                </a:solidFill>
              </a:rPr>
              <a:t> Shaun Pharrell</a:t>
            </a:r>
            <a:endParaRPr lang="en-US">
              <a:solidFill>
                <a:srgbClr val="F5F3F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6EE542-01A2-F393-2F29-A9935CAB1C35}"/>
              </a:ext>
            </a:extLst>
          </p:cNvPr>
          <p:cNvSpPr/>
          <p:nvPr/>
        </p:nvSpPr>
        <p:spPr>
          <a:xfrm>
            <a:off x="4712557" y="1508759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DE41A68-DE60-B166-339E-05EACF35D0B3}"/>
              </a:ext>
            </a:extLst>
          </p:cNvPr>
          <p:cNvSpPr/>
          <p:nvPr/>
        </p:nvSpPr>
        <p:spPr>
          <a:xfrm>
            <a:off x="4849717" y="160019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Bagoly Donát</a:t>
            </a:r>
            <a:endParaRPr lang="en-US" b="1">
              <a:solidFill>
                <a:srgbClr val="F5F3FF"/>
              </a:solidFill>
              <a:ea typeface="Calibri"/>
              <a:cs typeface="Calibri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C9A07ED-BF3B-4192-4C20-378DA1C5D762}"/>
              </a:ext>
            </a:extLst>
          </p:cNvPr>
          <p:cNvSpPr/>
          <p:nvPr/>
        </p:nvSpPr>
        <p:spPr>
          <a:xfrm>
            <a:off x="4849717" y="1984247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solidFill>
                <a:srgbClr val="C4B5FD"/>
              </a:solidFill>
              <a:ea typeface="Calibri"/>
              <a:cs typeface="Calibri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0DCCCF86-AB4B-7F60-99AF-39B4E379F80C}"/>
              </a:ext>
            </a:extLst>
          </p:cNvPr>
          <p:cNvSpPr/>
          <p:nvPr/>
        </p:nvSpPr>
        <p:spPr>
          <a:xfrm>
            <a:off x="2619631" y="2945232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7C9A11F-6E4C-A545-A067-C5DD85412BEB}"/>
              </a:ext>
            </a:extLst>
          </p:cNvPr>
          <p:cNvSpPr/>
          <p:nvPr/>
        </p:nvSpPr>
        <p:spPr>
          <a:xfrm>
            <a:off x="2756791" y="303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Buzási Regina</a:t>
            </a:r>
            <a:endParaRPr lang="hu-HU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5" name="Kép 24" descr="File:Visual Studio Code 1.35 icon.svg - Wikimedia Commons">
            <a:extLst>
              <a:ext uri="{FF2B5EF4-FFF2-40B4-BE49-F238E27FC236}">
                <a16:creationId xmlns:a16="http://schemas.microsoft.com/office/drawing/2014/main" id="{5538DD77-AC6E-1D59-C633-27F9B7471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30" y="1714500"/>
            <a:ext cx="926757" cy="911311"/>
          </a:xfrm>
          <a:prstGeom prst="rect">
            <a:avLst/>
          </a:prstGeom>
        </p:spPr>
      </p:pic>
      <p:pic>
        <p:nvPicPr>
          <p:cNvPr id="26" name="Kép 25" descr="Index of /_/images">
            <a:extLst>
              <a:ext uri="{FF2B5EF4-FFF2-40B4-BE49-F238E27FC236}">
                <a16:creationId xmlns:a16="http://schemas.microsoft.com/office/drawing/2014/main" id="{A8C5035B-E560-2EC1-1C8D-4B38112FF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311" y="1652716"/>
            <a:ext cx="919035" cy="973096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E2BBB25E-7720-47C2-7943-1F112F91C33B}"/>
              </a:ext>
            </a:extLst>
          </p:cNvPr>
          <p:cNvSpPr/>
          <p:nvPr/>
        </p:nvSpPr>
        <p:spPr>
          <a:xfrm>
            <a:off x="594359" y="1940010"/>
            <a:ext cx="2411731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Batang"/>
                <a:cs typeface="+mn-lt"/>
              </a:rPr>
              <a:t>Did the design, the look and feel of the website, and its basic functions.</a:t>
            </a:r>
            <a:endParaRPr lang="hu-HU" sz="1200">
              <a:latin typeface="Century"/>
              <a:ea typeface="Batang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6D81A40-AD83-8B85-DB35-66B0D53922CC}"/>
              </a:ext>
            </a:extLst>
          </p:cNvPr>
          <p:cNvSpPr/>
          <p:nvPr/>
        </p:nvSpPr>
        <p:spPr>
          <a:xfrm>
            <a:off x="4849717" y="1963178"/>
            <a:ext cx="2689758" cy="7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Made the application behind the website that handles all the functions.</a:t>
            </a:r>
            <a:endParaRPr lang="hu-HU">
              <a:latin typeface="Century"/>
              <a:ea typeface="+mn-lt"/>
              <a:cs typeface="+mn-lt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43ADD85-5A0D-440D-58B7-A566255FA7A3}"/>
              </a:ext>
            </a:extLst>
          </p:cNvPr>
          <p:cNvSpPr/>
          <p:nvPr/>
        </p:nvSpPr>
        <p:spPr>
          <a:xfrm>
            <a:off x="2756791" y="3337868"/>
            <a:ext cx="2210932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Created the database and filled the tables with data and stored procedures.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D5BAFE21-3DEB-588A-07C7-E4CEC1C7734F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5F3FF"/>
                </a:solidFill>
                <a:latin typeface="Trebuchet MS"/>
              </a:rPr>
              <a:t>Short definition</a:t>
            </a:r>
            <a:endParaRPr lang="hu-HU">
              <a:solidFill>
                <a:srgbClr val="F5F3FF"/>
              </a:solidFill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9C1819F-BAC0-42B0-E8DA-A37335B29FB3}"/>
              </a:ext>
            </a:extLst>
          </p:cNvPr>
          <p:cNvSpPr/>
          <p:nvPr/>
        </p:nvSpPr>
        <p:spPr>
          <a:xfrm>
            <a:off x="457200" y="789432"/>
            <a:ext cx="3398417" cy="4724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Kép 35" descr="Download Mamp - Mamp Icon PNG Image with No Background - PNGkey.com">
            <a:extLst>
              <a:ext uri="{FF2B5EF4-FFF2-40B4-BE49-F238E27FC236}">
                <a16:creationId xmlns:a16="http://schemas.microsoft.com/office/drawing/2014/main" id="{5B2B70B3-26C5-ABEF-CAA9-DD8EB6C2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076" y="3092278"/>
            <a:ext cx="1013254" cy="1028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688699"/>
            <a:ext cx="529596" cy="4397651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482600"/>
            <a:ext cx="315230" cy="425168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482600"/>
            <a:ext cx="8200127" cy="40439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Kép 2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6DBF5A0-E40A-E60E-C38A-88274FF7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12" r="140"/>
          <a:stretch>
            <a:fillRect/>
          </a:stretch>
        </p:blipFill>
        <p:spPr>
          <a:xfrm>
            <a:off x="1724724" y="1728961"/>
            <a:ext cx="5491330" cy="231538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B95D905-44BC-8C8F-87E8-7C82C9D2B1D9}"/>
              </a:ext>
            </a:extLst>
          </p:cNvPr>
          <p:cNvSpPr/>
          <p:nvPr/>
        </p:nvSpPr>
        <p:spPr>
          <a:xfrm>
            <a:off x="637674" y="68790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1E1B4B"/>
                </a:solidFill>
                <a:latin typeface="Trebuchet MS"/>
              </a:rPr>
              <a:t>Jira works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2F8B9FD-E7B3-4798-77DC-428909654003}"/>
              </a:ext>
            </a:extLst>
          </p:cNvPr>
          <p:cNvSpPr/>
          <p:nvPr/>
        </p:nvSpPr>
        <p:spPr>
          <a:xfrm>
            <a:off x="637674" y="1240616"/>
            <a:ext cx="2240378" cy="4724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488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8A21F-A050-F6CB-08C4-91B309DF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99B5FD-A8F6-3D7E-8146-62D235AE362C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AFFD91-C411-28A7-BDEF-3442D084D8EC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357711-1457-7371-6D79-8C27929D6117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Presentation </a:t>
            </a:r>
            <a:r>
              <a:rPr lang="en-US" sz="3600" b="1">
                <a:solidFill>
                  <a:srgbClr val="1E1B4B"/>
                </a:solidFill>
                <a:ea typeface="+mn-lt"/>
                <a:cs typeface="+mn-lt"/>
              </a:rPr>
              <a:t>sequence</a:t>
            </a:r>
            <a:endParaRPr lang="en-US" sz="3600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B3561B-C3B3-33E4-A5A6-1FFBA9684E10}"/>
              </a:ext>
            </a:extLst>
          </p:cNvPr>
          <p:cNvSpPr/>
          <p:nvPr/>
        </p:nvSpPr>
        <p:spPr>
          <a:xfrm flipV="1">
            <a:off x="457200" y="836676"/>
            <a:ext cx="48006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127AF0-350B-43F6-3446-9D253F5D51ED}"/>
              </a:ext>
            </a:extLst>
          </p:cNvPr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6A7115-A7C0-9460-B875-61069BD5F3DF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B9E12A-DE34-8818-7794-F6D412865A07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01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C881FD-0B7A-192E-2222-94773BB4B05F}"/>
              </a:ext>
            </a:extLst>
          </p:cNvPr>
          <p:cNvSpPr/>
          <p:nvPr/>
        </p:nvSpPr>
        <p:spPr>
          <a:xfrm>
            <a:off x="96012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Project Introduction</a:t>
            </a:r>
            <a:endParaRPr lang="en-US"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1B0BFB-B2FA-9A54-E7C0-B2520E9B4FE4}"/>
              </a:ext>
            </a:extLst>
          </p:cNvPr>
          <p:cNvSpPr/>
          <p:nvPr/>
        </p:nvSpPr>
        <p:spPr>
          <a:xfrm>
            <a:off x="96012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</a:rPr>
              <a:t>What is SkillBook? 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12CE55-9BF1-81FF-F612-88BBC4F28150}"/>
              </a:ext>
            </a:extLst>
          </p:cNvPr>
          <p:cNvSpPr/>
          <p:nvPr/>
        </p:nvSpPr>
        <p:spPr>
          <a:xfrm>
            <a:off x="45720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D8B57B-CEAA-5935-17C6-F8D7CFA5F662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3B894C-C16F-1B78-F255-5EEBEFE3F1FD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02</a:t>
            </a:r>
            <a:endParaRPr lang="en-US"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FB32F2-6A88-E1A0-02AF-A72AB337E9FD}"/>
              </a:ext>
            </a:extLst>
          </p:cNvPr>
          <p:cNvSpPr/>
          <p:nvPr/>
        </p:nvSpPr>
        <p:spPr>
          <a:xfrm>
            <a:off x="96012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The Real Problem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068EFC-4B48-3C5F-DD5F-1D7AD122DF6C}"/>
              </a:ext>
            </a:extLst>
          </p:cNvPr>
          <p:cNvSpPr/>
          <p:nvPr/>
        </p:nvSpPr>
        <p:spPr>
          <a:xfrm>
            <a:off x="96012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What gap does this platform fill?</a:t>
            </a:r>
            <a:endParaRPr lang="en-US"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0655CED-0864-A3E3-6EBA-662B4FDBDD15}"/>
              </a:ext>
            </a:extLst>
          </p:cNvPr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3B739C8-BFDD-CA73-7ECF-4DD8C127D2C8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8B568A-692A-9E77-7FE1-F58E38DD852C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03</a:t>
            </a:r>
            <a:endParaRPr lang="en-US"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65F189-1A99-4069-04F8-11802B4CEF0B}"/>
              </a:ext>
            </a:extLst>
          </p:cNvPr>
          <p:cNvSpPr/>
          <p:nvPr/>
        </p:nvSpPr>
        <p:spPr>
          <a:xfrm>
            <a:off x="96012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Key Features</a:t>
            </a:r>
            <a:endParaRPr lang="en-US"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925934-C58F-C5FB-7DD3-F093FD994B6F}"/>
              </a:ext>
            </a:extLst>
          </p:cNvPr>
          <p:cNvSpPr/>
          <p:nvPr/>
        </p:nvSpPr>
        <p:spPr>
          <a:xfrm>
            <a:off x="96012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Students, instructors, and admin capabilities</a:t>
            </a:r>
            <a:endParaRPr lang="en-US"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0D0A64D-02B3-14BF-12F8-82CC8FF3937F}"/>
              </a:ext>
            </a:extLst>
          </p:cNvPr>
          <p:cNvSpPr/>
          <p:nvPr/>
        </p:nvSpPr>
        <p:spPr>
          <a:xfrm>
            <a:off x="45720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2288F04-0613-9709-7C7C-C43BCFF31945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10729D-4C7E-5365-9DBE-0E8F7E3AB548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04</a:t>
            </a:r>
            <a:endParaRPr lang="en-US" sz="1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6886E7-FB9A-9876-0307-2CEBBE417D51}"/>
              </a:ext>
            </a:extLst>
          </p:cNvPr>
          <p:cNvSpPr/>
          <p:nvPr/>
        </p:nvSpPr>
        <p:spPr>
          <a:xfrm>
            <a:off x="96012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Design Plan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5A1F75A-70D1-2014-CE22-2F1F2353AC8D}"/>
              </a:ext>
            </a:extLst>
          </p:cNvPr>
          <p:cNvSpPr/>
          <p:nvPr/>
        </p:nvSpPr>
        <p:spPr>
          <a:xfrm>
            <a:off x="96012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UI/UX overview and page structure</a:t>
            </a:r>
            <a:endParaRPr lang="en-US"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5138F48-D0B7-F807-B823-56DEDBAA8884}"/>
              </a:ext>
            </a:extLst>
          </p:cNvPr>
          <p:cNvSpPr/>
          <p:nvPr/>
        </p:nvSpPr>
        <p:spPr>
          <a:xfrm>
            <a:off x="484632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11138FF-C42C-35A3-8324-58C80F48D101}"/>
              </a:ext>
            </a:extLst>
          </p:cNvPr>
          <p:cNvSpPr/>
          <p:nvPr/>
        </p:nvSpPr>
        <p:spPr>
          <a:xfrm>
            <a:off x="4846320" y="109728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26DC0E4-D2E7-9D5E-58EF-FAE9CA951387}"/>
              </a:ext>
            </a:extLst>
          </p:cNvPr>
          <p:cNvSpPr/>
          <p:nvPr/>
        </p:nvSpPr>
        <p:spPr>
          <a:xfrm>
            <a:off x="484632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05</a:t>
            </a:r>
            <a:endParaRPr lang="en-US"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9C948FA-4341-84BC-33D7-81A3C33A9C7B}"/>
              </a:ext>
            </a:extLst>
          </p:cNvPr>
          <p:cNvSpPr/>
          <p:nvPr/>
        </p:nvSpPr>
        <p:spPr>
          <a:xfrm>
            <a:off x="534924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Database Design</a:t>
            </a:r>
            <a:endParaRPr lang="en-US" sz="13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80D9584-4E8E-6988-A164-7726493424DF}"/>
              </a:ext>
            </a:extLst>
          </p:cNvPr>
          <p:cNvSpPr/>
          <p:nvPr/>
        </p:nvSpPr>
        <p:spPr>
          <a:xfrm>
            <a:off x="534924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Tables, relationships, stored procedures</a:t>
            </a:r>
            <a:endParaRPr lang="en-US" sz="10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6E1D78-D287-3FDB-886D-7968CDF1B4F2}"/>
              </a:ext>
            </a:extLst>
          </p:cNvPr>
          <p:cNvSpPr/>
          <p:nvPr/>
        </p:nvSpPr>
        <p:spPr>
          <a:xfrm>
            <a:off x="484632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F878145-5A59-5B17-163F-722FAAABC743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B47E15-34AC-2807-F207-D070C8291A0D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06</a:t>
            </a:r>
            <a:endParaRPr lang="en-US" sz="14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48F5179-F8E1-CBB2-A5E9-8D014DCBB29E}"/>
              </a:ext>
            </a:extLst>
          </p:cNvPr>
          <p:cNvSpPr/>
          <p:nvPr/>
        </p:nvSpPr>
        <p:spPr>
          <a:xfrm>
            <a:off x="534924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Tech Stack</a:t>
            </a:r>
            <a:endParaRPr lang="en-US" sz="13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07AD1BE-CFB4-5569-5747-06F137274A7B}"/>
              </a:ext>
            </a:extLst>
          </p:cNvPr>
          <p:cNvSpPr/>
          <p:nvPr/>
        </p:nvSpPr>
        <p:spPr>
          <a:xfrm>
            <a:off x="534924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Frontend, backend, and database technology</a:t>
            </a:r>
            <a:endParaRPr lang="en-US" sz="10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EB4C9F7-3642-2D11-8692-C5391CAA0479}"/>
              </a:ext>
            </a:extLst>
          </p:cNvPr>
          <p:cNvSpPr/>
          <p:nvPr/>
        </p:nvSpPr>
        <p:spPr>
          <a:xfrm>
            <a:off x="484632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F235B85-0BC8-11D0-F87D-A851BAFC8080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939EDAE-1D1A-5BE1-EABA-083550E3161C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07</a:t>
            </a:r>
            <a:endParaRPr lang="en-US" sz="14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7A43F1A-2593-9CFD-A7C4-D53D1AD4334A}"/>
              </a:ext>
            </a:extLst>
          </p:cNvPr>
          <p:cNvSpPr/>
          <p:nvPr/>
        </p:nvSpPr>
        <p:spPr>
          <a:xfrm>
            <a:off x="534924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Why We Built This</a:t>
            </a:r>
            <a:endParaRPr lang="en-US" sz="13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AD016D8-A4B1-E52D-0405-34ECB01E1181}"/>
              </a:ext>
            </a:extLst>
          </p:cNvPr>
          <p:cNvSpPr/>
          <p:nvPr/>
        </p:nvSpPr>
        <p:spPr>
          <a:xfrm>
            <a:off x="534924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Motivation and goals</a:t>
            </a:r>
            <a:endParaRPr lang="en-US" sz="10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1BCDA9-1C4A-FDD5-3F26-BE2A68EB265A}"/>
              </a:ext>
            </a:extLst>
          </p:cNvPr>
          <p:cNvSpPr/>
          <p:nvPr/>
        </p:nvSpPr>
        <p:spPr>
          <a:xfrm>
            <a:off x="484632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F8FA230-E06D-70AD-253B-66BA97694EE0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018098-5F7E-46C7-6BC8-C4DD509988EA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08</a:t>
            </a:r>
            <a:endParaRPr lang="en-US" sz="14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E281426-5AC2-5D35-0CAD-4FD0EDAB06F9}"/>
              </a:ext>
            </a:extLst>
          </p:cNvPr>
          <p:cNvSpPr/>
          <p:nvPr/>
        </p:nvSpPr>
        <p:spPr>
          <a:xfrm>
            <a:off x="534924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Q&amp;A</a:t>
            </a:r>
            <a:endParaRPr lang="en-US" sz="13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E91F093-62C5-BCD8-CE7F-C5737A0B0C13}"/>
              </a:ext>
            </a:extLst>
          </p:cNvPr>
          <p:cNvSpPr/>
          <p:nvPr/>
        </p:nvSpPr>
        <p:spPr>
          <a:xfrm>
            <a:off x="534924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Questions and discussion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0926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6122" y="-1325262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SkillBook?</a:t>
            </a:r>
            <a:endParaRPr lang="en-US" sz="340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3623618" cy="6258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E1B4B"/>
                </a:solidFill>
                <a:latin typeface="Century"/>
              </a:rPr>
              <a:t>SkillBook is a web-based interactive learning and booking platform designed for students and teachers. It enables course creation, enrollment, material sharing, and direct messaging.</a:t>
            </a:r>
            <a:endParaRPr lang="en-US" sz="1400">
              <a:latin typeface="Century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🎓 Students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Browse, enroll and learn from courses. Leave reviews, chat with instructors.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👩‍🏫 Instructors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Create and manage courses, upload materials, answer student messages.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1480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🛡️ Admins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Full platform oversight: manage users, courses, categories, and all content.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85962" y="1083482"/>
            <a:ext cx="3108960" cy="3754601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85962" y="126636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6143162" y="1741850"/>
            <a:ext cx="21945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7402" y="190644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📖 Course Catalog</a:t>
            </a:r>
            <a:endParaRPr lang="en-US" sz="1200">
              <a:latin typeface="Century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77402" y="230877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✍️ Easy Enrollment</a:t>
            </a:r>
            <a:endParaRPr lang="en-US" sz="1200">
              <a:latin typeface="Century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77402" y="271111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📁 Material Upload</a:t>
            </a:r>
            <a:endParaRPr lang="en-US" sz="1200">
              <a:latin typeface="Century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679" y="316052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💬 Direct Messaging</a:t>
            </a:r>
            <a:endParaRPr lang="en-US" sz="1200">
              <a:latin typeface="Century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69679" y="356286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⭐ Course Reviews</a:t>
            </a:r>
            <a:endParaRPr lang="en-US" sz="1200">
              <a:latin typeface="Century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85125" y="4004557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🔐 Secure Auth</a:t>
            </a:r>
            <a:endParaRPr lang="en-US" sz="1200">
              <a:latin typeface="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04863-618F-5D27-BF78-7FEA2159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F4E0E4-AB2C-3CA4-849F-89480A8065F7}"/>
              </a:ext>
            </a:extLst>
          </p:cNvPr>
          <p:cNvSpPr/>
          <p:nvPr/>
        </p:nvSpPr>
        <p:spPr>
          <a:xfrm>
            <a:off x="6479574" y="-1084305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D47730-D00E-1F5B-9D0E-89AACAD68DEB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Why we build </a:t>
            </a:r>
            <a:r>
              <a:rPr lang="en-US" sz="3600" b="1" err="1">
                <a:solidFill>
                  <a:srgbClr val="FFFFFF"/>
                </a:solidFill>
                <a:latin typeface="Trebuchet MS"/>
              </a:rPr>
              <a:t>SkillBook</a:t>
            </a:r>
            <a:r>
              <a:rPr lang="en-US" sz="3600" b="1">
                <a:solidFill>
                  <a:srgbClr val="FFFFFF"/>
                </a:solidFill>
                <a:latin typeface="Trebuchet MS"/>
              </a:rPr>
              <a:t>?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C5D5DB-5E7B-68CF-D313-B3D8AF641383}"/>
              </a:ext>
            </a:extLst>
          </p:cNvPr>
          <p:cNvSpPr/>
          <p:nvPr/>
        </p:nvSpPr>
        <p:spPr>
          <a:xfrm>
            <a:off x="457200" y="900992"/>
            <a:ext cx="5103959" cy="5486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45450C-617B-2525-A5AC-9BE678A999A4}"/>
              </a:ext>
            </a:extLst>
          </p:cNvPr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>
                <a:solidFill>
                  <a:srgbClr val="A78BFA"/>
                </a:solidFill>
              </a:rPr>
              <a:t>And what gap does </a:t>
            </a:r>
            <a:r>
              <a:rPr lang="en-US" sz="1500" i="1" err="1">
                <a:solidFill>
                  <a:srgbClr val="A78BFA"/>
                </a:solidFill>
              </a:rPr>
              <a:t>SkillBook</a:t>
            </a:r>
            <a:r>
              <a:rPr lang="en-US" sz="1500" i="1">
                <a:solidFill>
                  <a:srgbClr val="A78BFA"/>
                </a:solidFill>
              </a:rPr>
              <a:t> fill?</a:t>
            </a:r>
            <a:endParaRPr lang="en-US"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CA016D-B5C9-7D77-D257-9A8BC8BB1443}"/>
              </a:ext>
            </a:extLst>
          </p:cNvPr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B4F6BC-D2C2-5CFB-56A3-CA2B830F05EC}"/>
              </a:ext>
            </a:extLst>
          </p:cNvPr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9D5FF"/>
                </a:solidFill>
              </a:rPr>
              <a:t>😤 Fragmented Tools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F949AB-FF28-E794-2DFC-E3574C388284}"/>
              </a:ext>
            </a:extLst>
          </p:cNvPr>
          <p:cNvSpPr/>
          <p:nvPr/>
        </p:nvSpPr>
        <p:spPr>
          <a:xfrm>
            <a:off x="594360" y="1984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Students use email for enrollment, Google Drive for materials, and WhatsApp for questions. Everything is scattered.</a:t>
            </a:r>
            <a:endParaRPr lang="en-US" sz="1200">
              <a:latin typeface="Century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5A88926-1555-6C28-D525-0C634BF6242D}"/>
              </a:ext>
            </a:extLst>
          </p:cNvPr>
          <p:cNvSpPr/>
          <p:nvPr/>
        </p:nvSpPr>
        <p:spPr>
          <a:xfrm>
            <a:off x="45720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348F60-2273-F947-78A8-2A159CAA45D3}"/>
              </a:ext>
            </a:extLst>
          </p:cNvPr>
          <p:cNvSpPr/>
          <p:nvPr/>
        </p:nvSpPr>
        <p:spPr>
          <a:xfrm>
            <a:off x="59436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9D5FF"/>
                </a:solidFill>
              </a:rPr>
              <a:t>📋 No Unified Booking System</a:t>
            </a:r>
            <a:endParaRPr lang="en-US"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EFB665-0E45-9902-70BD-20CC122CAA7E}"/>
              </a:ext>
            </a:extLst>
          </p:cNvPr>
          <p:cNvSpPr/>
          <p:nvPr/>
        </p:nvSpPr>
        <p:spPr>
          <a:xfrm>
            <a:off x="59436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</a:rPr>
              <a:t>No easy way for learners to browse available courses, check uploaded materials, and profile management.</a:t>
            </a:r>
            <a:endParaRPr lang="en-US" sz="1200">
              <a:solidFill>
                <a:srgbClr val="C4B5FD"/>
              </a:solidFill>
              <a:latin typeface="Century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F586EB-1685-5963-21F8-4DF29773240F}"/>
              </a:ext>
            </a:extLst>
          </p:cNvPr>
          <p:cNvSpPr/>
          <p:nvPr/>
        </p:nvSpPr>
        <p:spPr>
          <a:xfrm>
            <a:off x="484632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009DB09-4786-0DAA-385F-F0BEB097A939}"/>
              </a:ext>
            </a:extLst>
          </p:cNvPr>
          <p:cNvSpPr/>
          <p:nvPr/>
        </p:nvSpPr>
        <p:spPr>
          <a:xfrm>
            <a:off x="498348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9D5FF"/>
                </a:solidFill>
              </a:rPr>
              <a:t>👨‍🏫 Instructors Lack Control</a:t>
            </a:r>
            <a:endParaRPr lang="en-US"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5A5E76-BF3C-36C2-4F81-505828D43EFB}"/>
              </a:ext>
            </a:extLst>
          </p:cNvPr>
          <p:cNvSpPr/>
          <p:nvPr/>
        </p:nvSpPr>
        <p:spPr>
          <a:xfrm>
            <a:off x="4983480" y="1984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Teachers have no centralized space to manage their courses, upload learning materials, and track student progress.</a:t>
            </a:r>
            <a:endParaRPr lang="en-US" sz="1200">
              <a:latin typeface="Century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C9869E-C587-6826-F337-6ACC3E2CFB1D}"/>
              </a:ext>
            </a:extLst>
          </p:cNvPr>
          <p:cNvSpPr/>
          <p:nvPr/>
        </p:nvSpPr>
        <p:spPr>
          <a:xfrm>
            <a:off x="484632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7FC4BA1-A3BD-62A4-B1CB-CB87B9B92181}"/>
              </a:ext>
            </a:extLst>
          </p:cNvPr>
          <p:cNvSpPr/>
          <p:nvPr/>
        </p:nvSpPr>
        <p:spPr>
          <a:xfrm>
            <a:off x="498348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9D5FF"/>
                </a:solidFill>
              </a:rPr>
              <a:t>🏫 Missing Community Layer</a:t>
            </a:r>
            <a:endParaRPr lang="en-US"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95CA8B-40BD-039F-8FD1-B46BCE2D2AD2}"/>
              </a:ext>
            </a:extLst>
          </p:cNvPr>
          <p:cNvSpPr/>
          <p:nvPr/>
        </p:nvSpPr>
        <p:spPr>
          <a:xfrm>
            <a:off x="498348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No built-in communication between students and instructors leads to lower engagement and higher dropout rates.</a:t>
            </a:r>
            <a:endParaRPr lang="en-US" sz="1200">
              <a:latin typeface="Century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CD6FD5-E87D-07F6-F2C4-FC4F870E7590}"/>
              </a:ext>
            </a:extLst>
          </p:cNvPr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6EE7B7"/>
                </a:solidFill>
              </a:rPr>
              <a:t>✅  </a:t>
            </a:r>
            <a:r>
              <a:rPr lang="en-US" sz="1600" b="1" err="1">
                <a:solidFill>
                  <a:srgbClr val="6EE7B7"/>
                </a:solidFill>
              </a:rPr>
              <a:t>SkillBook</a:t>
            </a:r>
            <a:r>
              <a:rPr lang="en-US" sz="1600" b="1">
                <a:solidFill>
                  <a:srgbClr val="6EE7B7"/>
                </a:solidFill>
              </a:rPr>
              <a:t> solves all of this. One platform for learning, booking, and communication.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121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9876" y="818078"/>
            <a:ext cx="2772547" cy="471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430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430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430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📚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144574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Course catalog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574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7280"/>
                </a:solidFill>
                <a:latin typeface="Century"/>
              </a:rPr>
              <a:t>Browse courses across 36 categories</a:t>
            </a:r>
            <a:endParaRPr lang="en-US" sz="1100">
              <a:latin typeface="Century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0314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314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314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✍️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359458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Easy enrollment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458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One-click registration for any course</a:t>
            </a:r>
            <a:endParaRPr lang="en-US" sz="1100">
              <a:latin typeface="Century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5198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198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198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📁</a:t>
            </a:r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574342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Material upload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342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Teachers upload PDFs, images, documents</a:t>
            </a:r>
            <a:endParaRPr lang="en-US" sz="1100">
              <a:latin typeface="Century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5430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5430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430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💬</a:t>
            </a:r>
            <a:endParaRPr lang="en-US" sz="3200"/>
          </a:p>
        </p:txBody>
      </p:sp>
      <p:sp>
        <p:nvSpPr>
          <p:cNvPr id="29" name="Text 27"/>
          <p:cNvSpPr/>
          <p:nvPr/>
        </p:nvSpPr>
        <p:spPr>
          <a:xfrm>
            <a:off x="144574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1B4B"/>
                </a:solidFill>
              </a:rPr>
              <a:t>Messaging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44574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Direct chat between students and instructors</a:t>
            </a:r>
            <a:endParaRPr lang="en-US" sz="1100">
              <a:latin typeface="Century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50314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0314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314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⭐</a:t>
            </a:r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359458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Reviews &amp; ratings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9458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Students rate and review completed courses</a:t>
            </a:r>
            <a:endParaRPr lang="en-US" sz="1100">
              <a:latin typeface="Century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3025243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69280" y="3025243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162403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🔐</a:t>
            </a:r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5760720" y="3711043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Secure auth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60720" y="4049371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JWT-based authentication with role access control</a:t>
            </a:r>
            <a:endParaRPr lang="en-US" sz="1100">
              <a:latin typeface="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home page</a:t>
            </a:r>
            <a:endParaRPr lang="en-US" sz="34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489835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</a:rPr>
              <a:t>Page Structure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🏠 Home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132320" y="1417320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📚 Course Listing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303520" y="2084832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🔍 Course Detail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132320" y="2084832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👤 User Profile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303520" y="2752344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➕ Create Course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132320" y="2752344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📋 My Courses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303520" y="3419856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💬 Messaging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7132320" y="3419856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🛡️ Admin Panel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1B4B"/>
                </a:solidFill>
              </a:rPr>
              <a:t>Brand Colors: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57200" y="4407408"/>
            <a:ext cx="1737360" cy="411480"/>
          </a:xfrm>
          <a:prstGeom prst="snip2DiagRect">
            <a:avLst/>
          </a:prstGeom>
          <a:solidFill>
            <a:srgbClr val="7C3AE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Primary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</a:t>
            </a: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7c3aed</a:t>
            </a:r>
            <a:endParaRPr lang="en-US" sz="900">
              <a:ea typeface="+mn-lt"/>
              <a:cs typeface="+mn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468880" y="4407408"/>
            <a:ext cx="1737360" cy="411480"/>
          </a:xfrm>
          <a:prstGeom prst="snip2DiagRect">
            <a:avLst/>
          </a:prstGeom>
          <a:solidFill>
            <a:srgbClr val="059669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Secondary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#059669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480560" y="4407408"/>
            <a:ext cx="1737360" cy="411480"/>
          </a:xfrm>
          <a:prstGeom prst="snip2DiagRect">
            <a:avLst/>
          </a:prstGeom>
          <a:solidFill>
            <a:srgbClr val="F5F3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Background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#f5f3ff</a:t>
            </a:r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92240" y="4407408"/>
            <a:ext cx="1737360" cy="411480"/>
          </a:xfrm>
          <a:prstGeom prst="snip2DiagRect">
            <a:avLst/>
          </a:prstGeom>
          <a:solidFill>
            <a:srgbClr val="1E1B4B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Text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#1e1b4b</a:t>
            </a:r>
            <a:endParaRPr lang="en-US" sz="900"/>
          </a:p>
        </p:txBody>
      </p:sp>
      <p:pic>
        <p:nvPicPr>
          <p:cNvPr id="39" name="Kép 38" descr="Figma logo - Free Icon PNG, SVG">
            <a:extLst>
              <a:ext uri="{FF2B5EF4-FFF2-40B4-BE49-F238E27FC236}">
                <a16:creationId xmlns:a16="http://schemas.microsoft.com/office/drawing/2014/main" id="{E632B05C-0023-CC4F-B792-471A9537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42" y="156410"/>
            <a:ext cx="2148531" cy="1010652"/>
          </a:xfrm>
          <a:prstGeom prst="rect">
            <a:avLst/>
          </a:prstGeom>
        </p:spPr>
      </p:pic>
      <p:pic>
        <p:nvPicPr>
          <p:cNvPr id="6" name="Kép 5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4F361BA-7C09-BAE9-BFC5-C137B7BC0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0" y="1416326"/>
            <a:ext cx="4285039" cy="2551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688699"/>
            <a:ext cx="529596" cy="4397651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482600"/>
            <a:ext cx="315230" cy="425168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482600"/>
            <a:ext cx="8200127" cy="40439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3EA2D4EC-7920-91B0-5C80-5B9DC0ED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91" y="625613"/>
            <a:ext cx="5410618" cy="3766918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E5482A0-24A8-DA56-16C9-685B530A5DE2}"/>
              </a:ext>
            </a:extLst>
          </p:cNvPr>
          <p:cNvSpPr/>
          <p:nvPr/>
        </p:nvSpPr>
        <p:spPr>
          <a:xfrm>
            <a:off x="465483" y="99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Courses</a:t>
            </a:r>
            <a:endParaRPr lang="en-US" sz="3400" dirty="0">
              <a:latin typeface="Trebuchet M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6F2B75E-1148-C0F7-B03D-91E1D10C1069}"/>
              </a:ext>
            </a:extLst>
          </p:cNvPr>
          <p:cNvSpPr/>
          <p:nvPr/>
        </p:nvSpPr>
        <p:spPr>
          <a:xfrm>
            <a:off x="482048" y="485096"/>
            <a:ext cx="4285443" cy="6314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158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43208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B7280"/>
                </a:solidFill>
              </a:rPr>
              <a:t>MySQL database — 11 Tables, 66 Stored Procedures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1661160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61160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1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users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38912" y="1981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name, email,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password, role,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profile_picture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578608" y="1661160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661160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661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651760" y="1981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title, description,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price, instructor_id,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category_id, max_participants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729672" y="402315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9672" y="402315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9672" y="40231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categories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802824" y="722355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name, slug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(36 categories)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942520" y="402315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2520" y="402315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2520" y="40231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enrollments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15672" y="722355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user_id, course_id,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session_id, status,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created_at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65760" y="2923032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23032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3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course_materials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38912" y="32430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 title,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file_url, uploaded_by,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uploaded_at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578608" y="2923032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78608" y="2923032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2923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course_sessions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2651760" y="32430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start_at, end_at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 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729672" y="1664187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9672" y="1664187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672" y="166418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course_reviews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802824" y="1984227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 user_id,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rating, comment,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created_at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6942520" y="1664187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42520" y="1664187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2520" y="166418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messages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7015672" y="1984227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sender_id,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receiver_id, content,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sentAt</a:t>
            </a:r>
            <a:endParaRPr lang="en-US" sz="1050"/>
          </a:p>
        </p:txBody>
      </p:sp>
      <p:pic>
        <p:nvPicPr>
          <p:cNvPr id="39" name="Kép 38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E956088E-4185-E8B9-A2AE-52EBBAF7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647" y="3067049"/>
            <a:ext cx="1801255" cy="20831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CBCBEE63-DBFE-6090-1CF9-9079CC911DFA}"/>
              </a:ext>
            </a:extLst>
          </p:cNvPr>
          <p:cNvSpPr/>
          <p:nvPr/>
        </p:nvSpPr>
        <p:spPr>
          <a:xfrm>
            <a:off x="457200" y="135716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F5F3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Database design – relation ships</a:t>
            </a:r>
            <a:endParaRPr lang="en-US" sz="3200">
              <a:solidFill>
                <a:srgbClr val="F5F3FF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6D354516-2F41-5214-22F4-19F6E4327579}"/>
              </a:ext>
            </a:extLst>
          </p:cNvPr>
          <p:cNvSpPr/>
          <p:nvPr/>
        </p:nvSpPr>
        <p:spPr>
          <a:xfrm>
            <a:off x="457200" y="642486"/>
            <a:ext cx="6033918" cy="3962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Kép 3" descr="A képen szöveg, képernyőkép, szám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F51D9EAC-CC6D-F15D-B7AD-81EB886A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" r="115" b="6508"/>
          <a:stretch>
            <a:fillRect/>
          </a:stretch>
        </p:blipFill>
        <p:spPr>
          <a:xfrm>
            <a:off x="1068311" y="872289"/>
            <a:ext cx="7167803" cy="41546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Stored procedures</a:t>
            </a:r>
            <a:endParaRPr lang="en-US" sz="30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296783" cy="5496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6B7280"/>
                </a:solidFill>
              </a:rPr>
              <a:t>66 stored procedures handle all CRUD operations.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1737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👤 User Management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9222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createUser()</a:t>
            </a:r>
            <a:endParaRPr lang="en-US" sz="1000">
              <a:latin typeface="Century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1284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updateUser()</a:t>
            </a:r>
            <a:endParaRPr lang="en-US" sz="1000">
              <a:latin typeface="Century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3347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deleteUser()</a:t>
            </a:r>
            <a:endParaRPr lang="en-US" sz="1000">
              <a:latin typeface="Century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23160" y="1792224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179222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updateProfilePicture()</a:t>
            </a:r>
            <a:endParaRPr lang="en-US" sz="1000">
              <a:latin typeface="Century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23160" y="2212848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221284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updateUserPassword()</a:t>
            </a:r>
            <a:endParaRPr lang="en-US" sz="1000">
              <a:latin typeface="Century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23160" y="2633472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263347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getUserById()</a:t>
            </a:r>
            <a:endParaRPr lang="en-US" sz="1000">
              <a:latin typeface="Century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114800" cy="1737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71600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📚 Course Operations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4846320" y="1792224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79222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createCourse()</a:t>
            </a:r>
            <a:endParaRPr lang="en-US" sz="1000">
              <a:latin typeface="Century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21284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updateCourse()</a:t>
            </a:r>
            <a:endParaRPr lang="en-US" sz="1000">
              <a:latin typeface="Century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2633472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3347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deleteCourse()</a:t>
            </a:r>
            <a:endParaRPr lang="en-US" sz="1000">
              <a:latin typeface="Century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12280" y="1792224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179222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getAllCourses()</a:t>
            </a:r>
            <a:endParaRPr lang="en-US" sz="1000">
              <a:latin typeface="Century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12280" y="2212848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221284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getCourseById()</a:t>
            </a:r>
            <a:endParaRPr lang="en-US" sz="1000">
              <a:latin typeface="Century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2633472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263347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getCoursesByInstructor()</a:t>
            </a:r>
            <a:endParaRPr lang="en-US" sz="1000">
              <a:latin typeface="Century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5760" y="3291840"/>
            <a:ext cx="4114800" cy="1737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29184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✍️ Enrollment &amp; Sessions</a:t>
            </a:r>
            <a:endParaRPr lang="en-US" sz="1300"/>
          </a:p>
        </p:txBody>
      </p:sp>
      <p:sp>
        <p:nvSpPr>
          <p:cNvPr id="40" name="Shape 38"/>
          <p:cNvSpPr/>
          <p:nvPr/>
        </p:nvSpPr>
        <p:spPr>
          <a:xfrm>
            <a:off x="457200" y="3712464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71246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createEnrollment()</a:t>
            </a:r>
            <a:endParaRPr lang="en-US" sz="1000">
              <a:latin typeface="Century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4133088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updateEnrollment()</a:t>
            </a:r>
            <a:endParaRPr lang="en-US" sz="1000">
              <a:latin typeface="Century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200" y="4553712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deleteEnrollment()</a:t>
            </a:r>
            <a:endParaRPr lang="en-US" sz="1000">
              <a:latin typeface="Century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423160" y="3712464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41448" y="371246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createCourseSession()</a:t>
            </a:r>
            <a:endParaRPr lang="en-US" sz="1000">
              <a:latin typeface="Century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423160" y="4133088"/>
            <a:ext cx="192024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4144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updateCourseSession()</a:t>
            </a:r>
            <a:endParaRPr lang="en-US" sz="1000">
              <a:latin typeface="Century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54880" y="3291840"/>
            <a:ext cx="4114800" cy="1737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291840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🧩 Quiz System</a:t>
            </a:r>
            <a:endParaRPr lang="en-US" sz="1300"/>
          </a:p>
        </p:txBody>
      </p:sp>
      <p:sp>
        <p:nvSpPr>
          <p:cNvPr id="53" name="Shape 51"/>
          <p:cNvSpPr/>
          <p:nvPr/>
        </p:nvSpPr>
        <p:spPr>
          <a:xfrm>
            <a:off x="4846320" y="3712464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71246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createQuiz()</a:t>
            </a:r>
            <a:endParaRPr lang="en-US" sz="1000">
              <a:latin typeface="Century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846320" y="4133088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createQuizQuestion()</a:t>
            </a:r>
            <a:endParaRPr lang="en-US" sz="1000">
              <a:latin typeface="Century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846320" y="4553712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4608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createQuizResult()</a:t>
            </a:r>
            <a:endParaRPr lang="en-US" sz="1000">
              <a:latin typeface="Century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812280" y="3712464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30568" y="3712464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updateQuiz()</a:t>
            </a:r>
            <a:endParaRPr lang="en-US" sz="1000">
              <a:latin typeface="Century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812280" y="4133088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056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deleteQuiz()</a:t>
            </a:r>
            <a:endParaRPr lang="en-US" sz="1000">
              <a:latin typeface="Century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812280" y="4553712"/>
            <a:ext cx="192024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30568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  <a:latin typeface="Century"/>
              </a:rPr>
              <a:t>⚙ getAllQuizzes()</a:t>
            </a:r>
            <a:endParaRPr lang="en-US" sz="1000">
              <a:latin typeface="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4060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Frontend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HTML / CSS</a:t>
            </a:r>
            <a:endParaRPr lang="en-US" sz="1400">
              <a:latin typeface="Century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Semantic structure, custom properties, responsive grid</a:t>
            </a:r>
            <a:endParaRPr lang="en-US" sz="1100" b="1">
              <a:latin typeface="Century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JavaScript</a:t>
            </a:r>
            <a:endParaRPr lang="en-US" sz="1400">
              <a:latin typeface="Century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Dynamic auth, API calls, DOM manipulation</a:t>
            </a:r>
            <a:endParaRPr lang="en-US" sz="1100" b="1">
              <a:latin typeface="Century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Glassmorphism UI</a:t>
            </a:r>
            <a:endParaRPr lang="en-US" sz="1400">
              <a:latin typeface="Century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backdrop-filter, CSS gradients, animations</a:t>
            </a:r>
            <a:endParaRPr lang="en-US" sz="1100" b="1">
              <a:latin typeface="Century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9184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Backend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3429000" y="1508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508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1B4B"/>
                </a:solidFill>
                <a:latin typeface="Century"/>
                <a:ea typeface="Calibri"/>
                <a:cs typeface="Calibri"/>
              </a:rPr>
              <a:t>Java backend</a:t>
            </a:r>
          </a:p>
        </p:txBody>
      </p:sp>
      <p:sp>
        <p:nvSpPr>
          <p:cNvPr id="27" name="Text 25"/>
          <p:cNvSpPr/>
          <p:nvPr/>
        </p:nvSpPr>
        <p:spPr>
          <a:xfrm>
            <a:off x="354787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RESTful API, controllers for each entity</a:t>
            </a:r>
            <a:endParaRPr lang="en-US" sz="1100" b="1">
              <a:latin typeface="Century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651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JWT Authentication</a:t>
            </a:r>
            <a:endParaRPr lang="en-US" sz="1400">
              <a:latin typeface="Century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4787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Token-based auth with role-based access control</a:t>
            </a:r>
            <a:endParaRPr lang="en-US" sz="1100" b="1">
              <a:latin typeface="Century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29000" y="3794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794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File Upload API</a:t>
            </a:r>
            <a:endParaRPr lang="en-US" sz="1400">
              <a:latin typeface="Century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54787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Profile pictures, course headers, materials</a:t>
            </a:r>
            <a:endParaRPr lang="en-US" sz="1100" b="1">
              <a:latin typeface="Century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Database</a:t>
            </a:r>
            <a:endParaRPr lang="en-US" sz="1500"/>
          </a:p>
        </p:txBody>
      </p:sp>
      <p:sp>
        <p:nvSpPr>
          <p:cNvPr id="39" name="Shape 37"/>
          <p:cNvSpPr/>
          <p:nvPr/>
        </p:nvSpPr>
        <p:spPr>
          <a:xfrm>
            <a:off x="635508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MySQL</a:t>
            </a:r>
            <a:endParaRPr lang="en-US" sz="1400">
              <a:latin typeface="Century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7395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Relational database with foreign key constraints</a:t>
            </a:r>
            <a:endParaRPr lang="en-US" sz="1100" b="1">
              <a:latin typeface="Century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5508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Stored Procedures</a:t>
            </a:r>
            <a:endParaRPr lang="en-US" sz="1400">
              <a:latin typeface="Century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7395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6B7280"/>
                </a:solidFill>
                <a:latin typeface="Century"/>
              </a:rPr>
              <a:t>Stored procedures for CRUD — all business logic in DB</a:t>
            </a:r>
            <a:endParaRPr lang="en-US" sz="1100" b="1">
              <a:latin typeface="Century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5508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phpMyAdmin</a:t>
            </a:r>
            <a:endParaRPr lang="en-US" sz="1400">
              <a:latin typeface="Century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7395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Database management and administration interface</a:t>
            </a:r>
            <a:endParaRPr lang="en-US" sz="1100" b="1">
              <a:latin typeface="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we built </a:t>
            </a:r>
            <a:r>
              <a:rPr lang="en-US" sz="36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3600" err="1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4937760" cy="39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28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28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🎯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11252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Real-World Need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11252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Many small schools and training centers still manage enrollments through phone calls, emails, or paper forms. SkillBook digitalizes this entirely.</a:t>
            </a:r>
            <a:endParaRPr lang="en-US" sz="1200">
              <a:latin typeface="Century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528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28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🏗️</a:t>
            </a:r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11252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Full-Stack Challenge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11252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We wanted to build something that exercises every layer: database design, REST API, authentication, file handling, and a polished frontend UI.</a:t>
            </a:r>
            <a:endParaRPr lang="en-US" sz="1200">
              <a:latin typeface="Century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2440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40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🌍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550164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Accessible Education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50164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Affordable access to quality learning should not be a privilege. Our platform makes finding and joining courses simple for everyone.</a:t>
            </a:r>
            <a:endParaRPr lang="en-US" sz="1200">
              <a:latin typeface="Century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2440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440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💡</a:t>
            </a:r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50164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Portfolio Quality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50164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A functional booking + LMS system demonstrates skills far beyond a typical CRUD app — including roles, sessions, and real-time features.</a:t>
            </a:r>
            <a:endParaRPr lang="en-US" sz="1200">
              <a:latin typeface="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AC12E-E9DB-29B3-9407-551B543B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BF13EE-F4D9-A48F-4244-B6E2EE749928}"/>
              </a:ext>
            </a:extLst>
          </p:cNvPr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78631D-21EA-027F-F777-AE4C1ECBB615}"/>
              </a:ext>
            </a:extLst>
          </p:cNvPr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DBE47-6487-BE24-6738-5BFBF14FE5A5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Future plans</a:t>
            </a:r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706112-07EB-7C6B-9FBD-BE491B765A06}"/>
              </a:ext>
            </a:extLst>
          </p:cNvPr>
          <p:cNvSpPr/>
          <p:nvPr/>
        </p:nvSpPr>
        <p:spPr>
          <a:xfrm flipV="1">
            <a:off x="457200" y="833917"/>
            <a:ext cx="2744436" cy="530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00A60C-1A53-8D59-0E25-13711E86BE26}"/>
              </a:ext>
            </a:extLst>
          </p:cNvPr>
          <p:cNvSpPr/>
          <p:nvPr/>
        </p:nvSpPr>
        <p:spPr>
          <a:xfrm>
            <a:off x="2405037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43CEEB-8FDD-681A-CE7D-D46C48A1791D}"/>
              </a:ext>
            </a:extLst>
          </p:cNvPr>
          <p:cNvSpPr/>
          <p:nvPr/>
        </p:nvSpPr>
        <p:spPr>
          <a:xfrm>
            <a:off x="2718899" y="1322853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BFBFBF"/>
                </a:solidFill>
                <a:latin typeface="Arial"/>
                <a:ea typeface="Calibri"/>
                <a:cs typeface="Arial"/>
              </a:rPr>
              <a:t>💳 </a:t>
            </a:r>
            <a:r>
              <a:rPr lang="en-US" sz="1500" b="1">
                <a:solidFill>
                  <a:srgbClr val="E9D5FF"/>
                </a:solidFill>
                <a:ea typeface="Calibri"/>
                <a:cs typeface="Calibri"/>
              </a:rPr>
              <a:t>Pay by card for courses</a:t>
            </a:r>
            <a:endParaRPr lang="hu-H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209FD9-E9AD-6C46-FA32-4DEF549BB639}"/>
              </a:ext>
            </a:extLst>
          </p:cNvPr>
          <p:cNvSpPr/>
          <p:nvPr/>
        </p:nvSpPr>
        <p:spPr>
          <a:xfrm>
            <a:off x="2718899" y="1725189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  <a:ea typeface="+mn-lt"/>
                <a:cs typeface="+mn-lt"/>
              </a:rPr>
              <a:t>We would like to be able to pay by credit card when registering for the course.</a:t>
            </a:r>
            <a:endParaRPr lang="hu-HU">
              <a:latin typeface="Century"/>
              <a:ea typeface="+mn-lt"/>
              <a:cs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A115CB-24F4-9F61-6E14-3E416555880B}"/>
              </a:ext>
            </a:extLst>
          </p:cNvPr>
          <p:cNvSpPr/>
          <p:nvPr/>
        </p:nvSpPr>
        <p:spPr>
          <a:xfrm>
            <a:off x="2405037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0BE49A-F146-1055-E774-08A6A22F7DC3}"/>
              </a:ext>
            </a:extLst>
          </p:cNvPr>
          <p:cNvSpPr/>
          <p:nvPr/>
        </p:nvSpPr>
        <p:spPr>
          <a:xfrm>
            <a:off x="2718898" y="309821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E9D5FF"/>
                </a:solidFill>
                <a:ea typeface="+mn-lt"/>
                <a:cs typeface="+mn-lt"/>
              </a:rPr>
              <a:t>🎓</a:t>
            </a:r>
            <a:r>
              <a:rPr lang="en-US" sz="1500">
                <a:solidFill>
                  <a:srgbClr val="E9D5FF"/>
                </a:solidFill>
              </a:rPr>
              <a:t>  </a:t>
            </a:r>
            <a:r>
              <a:rPr lang="en-US" sz="1500" b="1">
                <a:solidFill>
                  <a:srgbClr val="E9D5FF"/>
                </a:solidFill>
              </a:rPr>
              <a:t>Teacher qualifications</a:t>
            </a:r>
            <a:endParaRPr lang="hu-HU"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A068-018D-3B70-8B46-9A46E3C9AAC6}"/>
              </a:ext>
            </a:extLst>
          </p:cNvPr>
          <p:cNvSpPr/>
          <p:nvPr/>
        </p:nvSpPr>
        <p:spPr>
          <a:xfrm>
            <a:off x="2757513" y="34851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  <a:ea typeface="+mn-lt"/>
                <a:cs typeface="+mn-lt"/>
              </a:rPr>
              <a:t>It would be nice if the teacher could only create a course if they had the necessary qualifications.</a:t>
            </a:r>
            <a:endParaRPr lang="hu-HU">
              <a:latin typeface="Centur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599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4B5FD"/>
                </a:solidFill>
              </a:rPr>
              <a:t>📚 SkillBook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00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3657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We built </a:t>
            </a:r>
            <a:r>
              <a:rPr lang="en-US" sz="1500" i="1" dirty="0" err="1">
                <a:solidFill>
                  <a:srgbClr val="A78BFA"/>
                </a:solidFill>
                <a:latin typeface="Century"/>
              </a:rPr>
              <a:t>SkillBook</a:t>
            </a:r>
            <a:r>
              <a:rPr lang="en-US" sz="1500" i="1" dirty="0">
                <a:solidFill>
                  <a:srgbClr val="A78BFA"/>
                </a:solidFill>
                <a:latin typeface="Century"/>
              </a:rPr>
              <a:t> to prove that modern, scalable,</a:t>
            </a:r>
            <a:endParaRPr lang="en-US" sz="1500" dirty="0">
              <a:latin typeface="Century"/>
            </a:endParaRPr>
          </a:p>
          <a:p>
            <a:pPr algn="ctr"/>
            <a:r>
              <a:rPr lang="en-US" sz="1500" i="1" dirty="0">
                <a:solidFill>
                  <a:srgbClr val="A78BFA"/>
                </a:solidFill>
                <a:latin typeface="Century"/>
              </a:rPr>
              <a:t>and user friendly education platforms are achievable</a:t>
            </a:r>
            <a:endParaRPr lang="en-US" sz="1500" dirty="0">
              <a:latin typeface="Century"/>
            </a:endParaRPr>
          </a:p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with the right architecture and design.</a:t>
            </a:r>
            <a:endParaRPr lang="en-US" sz="1500" dirty="0">
              <a:latin typeface="Century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</a:rPr>
              <a:t>✅ Problem solved:  Unified learning, enrollment &amp; communication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🏗️ Tech used:  HTML · JS · JAVA · MySQL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📊 Database:  11 tables · 66 stored procedures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👥 Users supported: students · Teacher · Admins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EE7B7"/>
                </a:solidFill>
              </a:rPr>
              <a:t>❓  Questions &amp; Discussion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(16:9 oldalarány)</PresentationFormat>
  <Slides>17</Slides>
  <Notes>15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18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SkillBook - Interactive Learning Platform</dc:title>
  <dc:subject>PptxGenJS Presentation</dc:subject>
  <dc:creator>PptxGenJS</dc:creator>
  <cp:revision>27</cp:revision>
  <dcterms:created xsi:type="dcterms:W3CDTF">2026-02-18T06:43:07Z</dcterms:created>
  <dcterms:modified xsi:type="dcterms:W3CDTF">2026-02-20T09:50:19Z</dcterms:modified>
</cp:coreProperties>
</file>